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notesSlides/notesSlide1.xml" Type="http://schemas.openxmlformats.org/officeDocument/2006/relationships/notesSlide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27" Target="notesSlides/notesSlide8.xml" Type="http://schemas.openxmlformats.org/officeDocument/2006/relationships/notesSlide"/><Relationship Id="rId28" Target="notesSlides/notesSlide9.xml" Type="http://schemas.openxmlformats.org/officeDocument/2006/relationships/notesSlide"/><Relationship Id="rId29" Target="notesSlides/notesSlide10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11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大家好，欢迎参加本次的“OpenCLAW使用分享”。今天我将为大家介绍这款真正能做事的AI助手——OpenCLAW，希望能帮助大家更好地了解和使用它。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首先，让我们了解一下OpenCLAW的基本情况。它是一个开源的AI助手编排平台，用TypeScript编写。它最大的特点是突破了传统AI只能聊天不能动手的限制，能直接在你的电脑上执行操作。大家可以看到页面上这条完整的时间轴，它清晰地展示了OpenCLAW从2025年11月Clawdbot诞生，到因商标问题更名为Moltbot，再到最终定名为OpenClaw，并在2026年2月迅速成为GitHub上最快突破10万星标的开源项目的完整发展历程。在页面下方，我们总结了它的六大核心特点：它可以运行在你的本地设备上，支持几乎所有的聊天应用，拥有持久化记忆功能，能控制浏览器，具备全系统访问能力，并且可以通过丰富的技能和插件进行扩展。这个项目由奥地利开发者Peter Steinberger发起。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首先，让我们了解一下OpenCLAW的基本情况。它是一个开源的AI助手编排平台，用TypeScript编写。它最大的特点是突破了传统AI只能聊天不能动手的限制，能直接在你的电脑上执行操作。大家可以看到页面上这条清晰的时间轴，它展示了OpenCLAW从2025年11月Clawdbot诞生，到因商标问题更名为Moltbot，再到最终定名为OpenClaw，并在2026年2月迅速成为GitHub上最快突破10万星标的开源项目的完整发展历程。这个项目由奥地利开发者Peter Steinberger发起。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首先，让我们了解一下OpenCLAW的基本情况。它是一个开源的AI助手编排平台，用TypeScript编写。它最大的特点是突破了传统AI只能聊天不能动手的限制，能直接在你的电脑上执行操作。大家可以看到页面上这条清晰的时间轴，它展示了OpenCLAW从2025年11月Clawdbot诞生，到因商标问题更名为Moltbot，再到最终定名为OpenClaw，并在2026年2月迅速成为GitHub上最快突破10万星标的开源项目的完整发展历程。这个项目由奥地利开发者Peter Steinberger发起。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是OpenCLAW的核心功能。它主要分为四大模块：首先是本地系统操作，它能直接操作你的文件、执行命令，像一个超级终端；其次是多聊天平台适配，你可以在微信、Telegram等常用聊天软件里直接给它发指令；第三是办公自动化，帮你处理邮件、日程、报表等繁琐工作；最后是浏览器自动化，它能模拟人操作浏览器，完成网页数据爬取、表单填写等任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那么，OpenCLAW能在哪些场景下发挥作用呢？在开发和运维中，它能辅助编程、自动运维；在办公中，它能处理邮件、安排日程、生成报表。具体的应用案例也非常丰富，从智能购物到信息搜索，从内容创作到智能家居控制，都能看到它的身影。它的目标用户也很广泛，包括开发者、商务人士以及AI研究者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部署OpenCLAW有两种主要方式：本地部署和云端部署。本地部署适合个人使用，步骤包括准备环境、下载源码、安装依赖、配置模型并启动服务。云端部署则适合需要远程访问或更高性能的用户，可以选择主流云服务商，通过一键部署快速搭建，然后进行远程管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安全是任何工具都必须重视的。OpenCLAW在安全方面做了很多工作，比如采用最小权限原则、通信和数据加密、详细的操作日志审计、以及沙箱隔离来防止恶意命令执行。同时，我们也需要注意一些潜在风险，比如提示注入和权限过高的问题，并遵循最佳实践来保障安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一个开源项目的生命力在于社区。OpenCLAW拥有一个活跃的开源社区，在GitHub上获得了大量星标和分支，还有数千个技能插件和众多贡献者。社区提供了丰富的资源，包括官方仓库、技能商店、Discord交流社区和详细的官方文档，方便用户学习和参与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我们来客观分析一下OpenCLAW的优缺点。它的优势非常明显，比如数据隐私保护、高度可扩展、开源免费、强大的执行能力等。但它也存在一些劣势，比如有一定的技术门槛，使用大模型会产生成本，调试起来可能比较困难，并且因为权限较高，存在一定的安全风险。了解这些有助于我们更好地使用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总结一下，OpenCLAW的核心价值在于其创新的架构、对数据隐私的保护、强大的执行能力和活跃的社区。展望未来，项目团队计划在功能完善、生态建设、企业级应用和AI Agent生态等方面持续发力。我们的愿景是让每个人都拥有自己的AI助手，实现真正的人机协同，共同迈向更智能的未来。我的介绍到此结束，谢谢大家！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https://openclaw.ai/" TargetMode="External" Type="http://schemas.openxmlformats.org/officeDocument/2006/relationships/hyperlink"/><Relationship Id="rId3" Target="../media/image2.png" Type="http://schemas.openxmlformats.org/officeDocument/2006/relationships/image"/><Relationship Id="rId4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https://openclaw.ai/" TargetMode="External" Type="http://schemas.openxmlformats.org/officeDocument/2006/relationships/hyperlink"/><Relationship Id="rId3" Target="../media/image2.png" Type="http://schemas.openxmlformats.org/officeDocument/2006/relationships/image"/><Relationship Id="rId4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https://openclaw.ai/" TargetMode="External" Type="http://schemas.openxmlformats.org/officeDocument/2006/relationships/hyperlink"/><Relationship Id="rId3" Target="../media/image2.png" Type="http://schemas.openxmlformats.org/officeDocument/2006/relationships/image"/><Relationship Id="rId4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14" Target="../notesSlides/notesSlide5.xml" Type="http://schemas.openxmlformats.org/officeDocument/2006/relationships/notesSlid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12" Target="../media/image25.png" Type="http://schemas.openxmlformats.org/officeDocument/2006/relationships/image"/><Relationship Id="rId13" Target="../media/image26.svg" Type="http://schemas.openxmlformats.org/officeDocument/2006/relationships/image"/><Relationship Id="rId14" Target="../media/image27.png" Type="http://schemas.openxmlformats.org/officeDocument/2006/relationships/image"/><Relationship Id="rId15" Target="../media/image28.svg" Type="http://schemas.openxmlformats.org/officeDocument/2006/relationships/image"/><Relationship Id="rId16" Target="../media/image29.png" Type="http://schemas.openxmlformats.org/officeDocument/2006/relationships/image"/><Relationship Id="rId17" Target="../media/image30.svg" Type="http://schemas.openxmlformats.org/officeDocument/2006/relationships/image"/><Relationship Id="rId18" Target="../media/image31.png" Type="http://schemas.openxmlformats.org/officeDocument/2006/relationships/image"/><Relationship Id="rId19" Target="../media/image32.svg" Type="http://schemas.openxmlformats.org/officeDocument/2006/relationships/image"/><Relationship Id="rId2" Target="../media/image15.png" Type="http://schemas.openxmlformats.org/officeDocument/2006/relationships/image"/><Relationship Id="rId20" Target="../media/image33.png" Type="http://schemas.openxmlformats.org/officeDocument/2006/relationships/image"/><Relationship Id="rId21" Target="../media/image34.svg" Type="http://schemas.openxmlformats.org/officeDocument/2006/relationships/image"/><Relationship Id="rId22" Target="../media/image35.png" Type="http://schemas.openxmlformats.org/officeDocument/2006/relationships/image"/><Relationship Id="rId23" Target="../media/image36.svg" Type="http://schemas.openxmlformats.org/officeDocument/2006/relationships/image"/><Relationship Id="rId24" Target="../media/image37.png" Type="http://schemas.openxmlformats.org/officeDocument/2006/relationships/image"/><Relationship Id="rId25" Target="../media/image38.svg" Type="http://schemas.openxmlformats.org/officeDocument/2006/relationships/image"/><Relationship Id="rId26" Target="../media/image39.png" Type="http://schemas.openxmlformats.org/officeDocument/2006/relationships/image"/><Relationship Id="rId27" Target="../media/image40.svg" Type="http://schemas.openxmlformats.org/officeDocument/2006/relationships/image"/><Relationship Id="rId28" Target="../media/image41.png" Type="http://schemas.openxmlformats.org/officeDocument/2006/relationships/image"/><Relationship Id="rId29" Target="../media/image42.svg" Type="http://schemas.openxmlformats.org/officeDocument/2006/relationships/image"/><Relationship Id="rId3" Target="../media/image16.svg" Type="http://schemas.openxmlformats.org/officeDocument/2006/relationships/image"/><Relationship Id="rId30" Target="../media/image43.png" Type="http://schemas.openxmlformats.org/officeDocument/2006/relationships/image"/><Relationship Id="rId31" Target="../media/image44.svg" Type="http://schemas.openxmlformats.org/officeDocument/2006/relationships/image"/><Relationship Id="rId32" Target="../media/image45.png" Type="http://schemas.openxmlformats.org/officeDocument/2006/relationships/image"/><Relationship Id="rId33" Target="../media/image46.svg" Type="http://schemas.openxmlformats.org/officeDocument/2006/relationships/image"/><Relationship Id="rId34" Target="../media/image47.png" Type="http://schemas.openxmlformats.org/officeDocument/2006/relationships/image"/><Relationship Id="rId35" Target="../media/image48.svg" Type="http://schemas.openxmlformats.org/officeDocument/2006/relationships/image"/><Relationship Id="rId36" Target="../media/image49.png" Type="http://schemas.openxmlformats.org/officeDocument/2006/relationships/image"/><Relationship Id="rId37" Target="../media/image50.svg" Type="http://schemas.openxmlformats.org/officeDocument/2006/relationships/image"/><Relationship Id="rId38" Target="../media/image51.png" Type="http://schemas.openxmlformats.org/officeDocument/2006/relationships/image"/><Relationship Id="rId39" Target="../media/image52.svg" Type="http://schemas.openxmlformats.org/officeDocument/2006/relationships/image"/><Relationship Id="rId4" Target="../media/image17.png" Type="http://schemas.openxmlformats.org/officeDocument/2006/relationships/image"/><Relationship Id="rId40" Target="../notesSlides/notesSlide6.xml" Type="http://schemas.openxmlformats.org/officeDocument/2006/relationships/notesSlid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61.png" Type="http://schemas.openxmlformats.org/officeDocument/2006/relationships/image"/><Relationship Id="rId11" Target="../media/image62.svg" Type="http://schemas.openxmlformats.org/officeDocument/2006/relationships/image"/><Relationship Id="rId12" Target="../media/image63.png" Type="http://schemas.openxmlformats.org/officeDocument/2006/relationships/image"/><Relationship Id="rId13" Target="../media/image64.svg" Type="http://schemas.openxmlformats.org/officeDocument/2006/relationships/image"/><Relationship Id="rId14" Target="../media/image65.png" Type="http://schemas.openxmlformats.org/officeDocument/2006/relationships/image"/><Relationship Id="rId15" Target="../media/image66.svg" Type="http://schemas.openxmlformats.org/officeDocument/2006/relationships/image"/><Relationship Id="rId16" Target="../media/image67.png" Type="http://schemas.openxmlformats.org/officeDocument/2006/relationships/image"/><Relationship Id="rId17" Target="../media/image68.svg" Type="http://schemas.openxmlformats.org/officeDocument/2006/relationships/image"/><Relationship Id="rId18" Target="../media/image69.png" Type="http://schemas.openxmlformats.org/officeDocument/2006/relationships/image"/><Relationship Id="rId19" Target="../media/image70.svg" Type="http://schemas.openxmlformats.org/officeDocument/2006/relationships/image"/><Relationship Id="rId2" Target="../media/image53.png" Type="http://schemas.openxmlformats.org/officeDocument/2006/relationships/image"/><Relationship Id="rId20" Target="../media/image71.png" Type="http://schemas.openxmlformats.org/officeDocument/2006/relationships/image"/><Relationship Id="rId21" Target="../media/image72.svg" Type="http://schemas.openxmlformats.org/officeDocument/2006/relationships/image"/><Relationship Id="rId22" Target="../media/image73.png" Type="http://schemas.openxmlformats.org/officeDocument/2006/relationships/image"/><Relationship Id="rId23" Target="../media/image74.svg" Type="http://schemas.openxmlformats.org/officeDocument/2006/relationships/image"/><Relationship Id="rId24" Target="../notesSlides/notesSlide7.xml" Type="http://schemas.openxmlformats.org/officeDocument/2006/relationships/notesSlide"/><Relationship Id="rId3" Target="../media/image54.svg" Type="http://schemas.openxmlformats.org/officeDocument/2006/relationships/image"/><Relationship Id="rId4" Target="../media/image55.png" Type="http://schemas.openxmlformats.org/officeDocument/2006/relationships/image"/><Relationship Id="rId5" Target="../media/image56.svg" Type="http://schemas.openxmlformats.org/officeDocument/2006/relationships/image"/><Relationship Id="rId6" Target="../media/image57.png" Type="http://schemas.openxmlformats.org/officeDocument/2006/relationships/image"/><Relationship Id="rId7" Target="../media/image58.svg" Type="http://schemas.openxmlformats.org/officeDocument/2006/relationships/image"/><Relationship Id="rId8" Target="../media/image59.png" Type="http://schemas.openxmlformats.org/officeDocument/2006/relationships/image"/><Relationship Id="rId9" Target="../media/image6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83.png" Type="http://schemas.openxmlformats.org/officeDocument/2006/relationships/image"/><Relationship Id="rId11" Target="../media/image84.svg" Type="http://schemas.openxmlformats.org/officeDocument/2006/relationships/image"/><Relationship Id="rId12" Target="../media/image85.png" Type="http://schemas.openxmlformats.org/officeDocument/2006/relationships/image"/><Relationship Id="rId13" Target="../media/image86.svg" Type="http://schemas.openxmlformats.org/officeDocument/2006/relationships/image"/><Relationship Id="rId14" Target="../media/image87.png" Type="http://schemas.openxmlformats.org/officeDocument/2006/relationships/image"/><Relationship Id="rId15" Target="../media/image88.svg" Type="http://schemas.openxmlformats.org/officeDocument/2006/relationships/image"/><Relationship Id="rId16" Target="../media/image7.png" Type="http://schemas.openxmlformats.org/officeDocument/2006/relationships/image"/><Relationship Id="rId17" Target="../media/image8.svg" Type="http://schemas.openxmlformats.org/officeDocument/2006/relationships/image"/><Relationship Id="rId18" Target="../notesSlides/notesSlide8.xml" Type="http://schemas.openxmlformats.org/officeDocument/2006/relationships/notesSlide"/><Relationship Id="rId2" Target="../media/image75.png" Type="http://schemas.openxmlformats.org/officeDocument/2006/relationships/image"/><Relationship Id="rId3" Target="../media/image76.svg" Type="http://schemas.openxmlformats.org/officeDocument/2006/relationships/image"/><Relationship Id="rId4" Target="../media/image77.png" Type="http://schemas.openxmlformats.org/officeDocument/2006/relationships/image"/><Relationship Id="rId5" Target="../media/image78.svg" Type="http://schemas.openxmlformats.org/officeDocument/2006/relationships/image"/><Relationship Id="rId6" Target="../media/image79.png" Type="http://schemas.openxmlformats.org/officeDocument/2006/relationships/image"/><Relationship Id="rId7" Target="../media/image80.svg" Type="http://schemas.openxmlformats.org/officeDocument/2006/relationships/image"/><Relationship Id="rId8" Target="../media/image81.png" Type="http://schemas.openxmlformats.org/officeDocument/2006/relationships/image"/><Relationship Id="rId9" Target="../media/image8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97.png" Type="http://schemas.openxmlformats.org/officeDocument/2006/relationships/image"/><Relationship Id="rId11" Target="../media/image98.svg" Type="http://schemas.openxmlformats.org/officeDocument/2006/relationships/image"/><Relationship Id="rId12" Target="../media/image99.png" Type="http://schemas.openxmlformats.org/officeDocument/2006/relationships/image"/><Relationship Id="rId13" Target="../media/image100.svg" Type="http://schemas.openxmlformats.org/officeDocument/2006/relationships/image"/><Relationship Id="rId14" Target="../notesSlides/notesSlide9.xml" Type="http://schemas.openxmlformats.org/officeDocument/2006/relationships/notesSlide"/><Relationship Id="rId2" Target="../media/image89.png" Type="http://schemas.openxmlformats.org/officeDocument/2006/relationships/image"/><Relationship Id="rId3" Target="../media/image90.svg" Type="http://schemas.openxmlformats.org/officeDocument/2006/relationships/image"/><Relationship Id="rId4" Target="../media/image91.png" Type="http://schemas.openxmlformats.org/officeDocument/2006/relationships/image"/><Relationship Id="rId5" Target="../media/image92.svg" Type="http://schemas.openxmlformats.org/officeDocument/2006/relationships/image"/><Relationship Id="rId6" Target="../media/image93.png" Type="http://schemas.openxmlformats.org/officeDocument/2006/relationships/image"/><Relationship Id="rId7" Target="../media/image94.svg" Type="http://schemas.openxmlformats.org/officeDocument/2006/relationships/image"/><Relationship Id="rId8" Target="../media/image95.png" Type="http://schemas.openxmlformats.org/officeDocument/2006/relationships/image"/><Relationship Id="rId9" Target="../media/image9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09.png" Type="http://schemas.openxmlformats.org/officeDocument/2006/relationships/image"/><Relationship Id="rId11" Target="../media/image110.svg" Type="http://schemas.openxmlformats.org/officeDocument/2006/relationships/image"/><Relationship Id="rId12" Target="../media/image111.png" Type="http://schemas.openxmlformats.org/officeDocument/2006/relationships/image"/><Relationship Id="rId13" Target="../media/image112.svg" Type="http://schemas.openxmlformats.org/officeDocument/2006/relationships/image"/><Relationship Id="rId14" Target="../media/image113.png" Type="http://schemas.openxmlformats.org/officeDocument/2006/relationships/image"/><Relationship Id="rId15" Target="../media/image114.svg" Type="http://schemas.openxmlformats.org/officeDocument/2006/relationships/image"/><Relationship Id="rId16" Target="../media/image115.png" Type="http://schemas.openxmlformats.org/officeDocument/2006/relationships/image"/><Relationship Id="rId17" Target="../media/image116.svg" Type="http://schemas.openxmlformats.org/officeDocument/2006/relationships/image"/><Relationship Id="rId18" Target="../media/image117.png" Type="http://schemas.openxmlformats.org/officeDocument/2006/relationships/image"/><Relationship Id="rId19" Target="../media/image118.svg" Type="http://schemas.openxmlformats.org/officeDocument/2006/relationships/image"/><Relationship Id="rId2" Target="../media/image101.png" Type="http://schemas.openxmlformats.org/officeDocument/2006/relationships/image"/><Relationship Id="rId20" Target="../media/image119.png" Type="http://schemas.openxmlformats.org/officeDocument/2006/relationships/image"/><Relationship Id="rId21" Target="../media/image120.svg" Type="http://schemas.openxmlformats.org/officeDocument/2006/relationships/image"/><Relationship Id="rId22" Target="../media/image121.png" Type="http://schemas.openxmlformats.org/officeDocument/2006/relationships/image"/><Relationship Id="rId23" Target="../media/image122.svg" Type="http://schemas.openxmlformats.org/officeDocument/2006/relationships/image"/><Relationship Id="rId24" Target="../media/image123.png" Type="http://schemas.openxmlformats.org/officeDocument/2006/relationships/image"/><Relationship Id="rId25" Target="../media/image124.svg" Type="http://schemas.openxmlformats.org/officeDocument/2006/relationships/image"/><Relationship Id="rId26" Target="../notesSlides/notesSlide10.xml" Type="http://schemas.openxmlformats.org/officeDocument/2006/relationships/notesSlide"/><Relationship Id="rId3" Target="../media/image102.svg" Type="http://schemas.openxmlformats.org/officeDocument/2006/relationships/image"/><Relationship Id="rId4" Target="../media/image103.png" Type="http://schemas.openxmlformats.org/officeDocument/2006/relationships/image"/><Relationship Id="rId5" Target="../media/image104.svg" Type="http://schemas.openxmlformats.org/officeDocument/2006/relationships/image"/><Relationship Id="rId6" Target="../media/image105.png" Type="http://schemas.openxmlformats.org/officeDocument/2006/relationships/image"/><Relationship Id="rId7" Target="../media/image106.svg" Type="http://schemas.openxmlformats.org/officeDocument/2006/relationships/image"/><Relationship Id="rId8" Target="../media/image107.png" Type="http://schemas.openxmlformats.org/officeDocument/2006/relationships/image"/><Relationship Id="rId9" Target="../media/image10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33.png" Type="http://schemas.openxmlformats.org/officeDocument/2006/relationships/image"/><Relationship Id="rId11" Target="../media/image134.svg" Type="http://schemas.openxmlformats.org/officeDocument/2006/relationships/image"/><Relationship Id="rId12" Target="../notesSlides/notesSlide11.xml" Type="http://schemas.openxmlformats.org/officeDocument/2006/relationships/notesSlide"/><Relationship Id="rId13" Target="../media/image135.png" Type="http://schemas.openxmlformats.org/officeDocument/2006/relationships/image"/><Relationship Id="rId2" Target="../media/image125.png" Type="http://schemas.openxmlformats.org/officeDocument/2006/relationships/image"/><Relationship Id="rId3" Target="../media/image126.svg" Type="http://schemas.openxmlformats.org/officeDocument/2006/relationships/image"/><Relationship Id="rId4" Target="../media/image127.png" Type="http://schemas.openxmlformats.org/officeDocument/2006/relationships/image"/><Relationship Id="rId5" Target="../media/image128.svg" Type="http://schemas.openxmlformats.org/officeDocument/2006/relationships/image"/><Relationship Id="rId6" Target="../media/image129.png" Type="http://schemas.openxmlformats.org/officeDocument/2006/relationships/image"/><Relationship Id="rId7" Target="../media/image130.svg" Type="http://schemas.openxmlformats.org/officeDocument/2006/relationships/image"/><Relationship Id="rId8" Target="../media/image131.png" Type="http://schemas.openxmlformats.org/officeDocument/2006/relationships/image"/><Relationship Id="rId9" Target="../media/image13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2558" b="2558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2286000" y="3944056"/>
            <a:ext cx="7620000" cy="1023056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7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OpenClaw使用分享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false">
            <a:gsLst>
              <a:gs pos="0">
                <a:srgbClr val="F8FAFC">
                  <a:alpha val="100000"/>
                </a:srgbClr>
              </a:gs>
              <a:gs pos="100000">
                <a:srgbClr val="E2E8F0">
                  <a:alpha val="100000"/>
                </a:srgbClr>
              </a:gs>
            </a:gsLst>
            <a:lin ang="540000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914400" y="393700"/>
            <a:ext cx="5372100" cy="6096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32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OpenClaw简介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381000" y="1244600"/>
            <a:ext cx="82169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miter lim="10000000"/>
          </a:ln>
          <a:effectLst>
            <a:outerShdw dir="5400000" dist="25400" blurRad="38100" algn="bl" sx="100000" sy="100000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71500" y="1447800"/>
            <a:ext cx="863600" cy="317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B82F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基本概念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35000" y="1765300"/>
            <a:ext cx="7810500" cy="889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  <a:sym typeface="Microsoft YaHei"/>
                <a:hlinkClick r:id="rId2" tooltip="https://openclaw.ai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OpenClaw</a:t>
            </a:r>
            <a:r>
              <a:rPr lang="en-US" b="false" i="false" strike="noStrike" u="none" sz="14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是一款开源的个人 AI Agent 系统，可以运行在你的个人电脑或服务器上。</a:t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相比以往的 AI Agent，OpenClaw 最大的不同在于：他是完全属于你的私人助理，拥有长期记忆、能力持续进化，拥有更高的权限，能直接操作你电脑、本地运行、还能 24 小时主动干活。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rcRect l="7359" r="7359" t="0" b="0"/>
          <a:stretch>
            <a:fillRect/>
          </a:stretch>
        </p:blipFill>
        <p:spPr>
          <a:xfrm rot="0" flipH="false" flipV="false">
            <a:off x="10363200" y="0"/>
            <a:ext cx="1828800" cy="1524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8" id="8"/>
          <p:cNvSpPr/>
          <p:nvPr/>
        </p:nvSpPr>
        <p:spPr>
          <a:xfrm rot="0" flipH="false" flipV="false">
            <a:off x="8382000" y="1079500"/>
            <a:ext cx="3302000" cy="1524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94A3B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OpenCLAW 开发者</a:t>
            </a:r>
            <a:r>
              <a:rPr lang="en-US" b="false" i="false" strike="noStrike" u="none" sz="16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true" i="false" strike="noStrike" u="none" sz="18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彼得·斯坦伯格</a:t>
            </a:r>
            <a:r>
              <a:rPr lang="en-US" b="false" i="false" strike="noStrike" u="none" sz="16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/>
            </a:r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4748B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Peter Steinberger (奥地利)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81000" y="3644900"/>
            <a:ext cx="11530761" cy="2959100"/>
          </a:xfrm>
          <a:prstGeom prst="roundRect">
            <a:avLst>
              <a:gd name="adj" fmla="val 3433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miter lim="10000000"/>
          </a:ln>
          <a:effectLst>
            <a:outerShdw dir="5400000" dist="25400" blurRad="38100" algn="bl" sx="100000" sy="100000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73100" y="3810000"/>
            <a:ext cx="15240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B82F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核心特点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35000" y="4432300"/>
            <a:ext cx="3302000" cy="901700"/>
          </a:xfrm>
          <a:prstGeom prst="roundRect">
            <a:avLst>
              <a:gd name="adj" fmla="val 11267"/>
            </a:avLst>
          </a:prstGeom>
          <a:solidFill>
            <a:srgbClr val="EFF6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💻</a:t>
            </a:r>
            <a:r>
              <a:rPr lang="en-US" b="false" i="false" strike="noStrike" u="none" sz="14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运行在你的设备上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445000" y="4432300"/>
            <a:ext cx="3302000" cy="901700"/>
          </a:xfrm>
          <a:prstGeom prst="roundRect">
            <a:avLst>
              <a:gd name="adj" fmla="val 11267"/>
            </a:avLst>
          </a:prstGeom>
          <a:solidFill>
            <a:srgbClr val="EFF6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💬</a:t>
            </a:r>
            <a:r>
              <a:rPr lang="en-US" b="false" i="false" strike="noStrike" u="none" sz="14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支持任何聊天应用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255000" y="4432300"/>
            <a:ext cx="3302000" cy="901700"/>
          </a:xfrm>
          <a:prstGeom prst="roundRect">
            <a:avLst>
              <a:gd name="adj" fmla="val 11267"/>
            </a:avLst>
          </a:prstGeom>
          <a:solidFill>
            <a:srgbClr val="EFF6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🧠</a:t>
            </a:r>
            <a:r>
              <a:rPr lang="en-US" b="false" i="false" strike="noStrike" u="none" sz="14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持久化记忆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35000" y="5575300"/>
            <a:ext cx="3302000" cy="901700"/>
          </a:xfrm>
          <a:prstGeom prst="roundRect">
            <a:avLst>
              <a:gd name="adj" fmla="val 11267"/>
            </a:avLst>
          </a:prstGeom>
          <a:solidFill>
            <a:srgbClr val="EFF6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🌐</a:t>
            </a:r>
            <a:r>
              <a:rPr lang="en-US" b="false" i="false" strike="noStrike" u="none" sz="14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浏览器控制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445000" y="5575300"/>
            <a:ext cx="3302000" cy="901700"/>
          </a:xfrm>
          <a:prstGeom prst="roundRect">
            <a:avLst>
              <a:gd name="adj" fmla="val 11267"/>
            </a:avLst>
          </a:prstGeom>
          <a:solidFill>
            <a:srgbClr val="EFF6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🔑</a:t>
            </a:r>
            <a:r>
              <a:rPr lang="en-US" b="false" i="false" strike="noStrike" u="none" sz="14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全系统访问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255000" y="5575300"/>
            <a:ext cx="3302000" cy="901700"/>
          </a:xfrm>
          <a:prstGeom prst="roundRect">
            <a:avLst>
              <a:gd name="adj" fmla="val 11267"/>
            </a:avLst>
          </a:prstGeom>
          <a:solidFill>
            <a:srgbClr val="EFF6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🔌</a:t>
            </a:r>
            <a:r>
              <a:rPr lang="en-US" b="false" i="false" strike="noStrike" u="none" sz="14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技能与插件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false">
            <a:gsLst>
              <a:gs pos="0">
                <a:srgbClr val="F8FAFC">
                  <a:alpha val="100000"/>
                </a:srgbClr>
              </a:gs>
              <a:gs pos="100000">
                <a:srgbClr val="E2E8F0">
                  <a:alpha val="100000"/>
                </a:srgbClr>
              </a:gs>
            </a:gsLst>
            <a:lin ang="540000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914400" y="393700"/>
            <a:ext cx="5372100" cy="6096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32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OpenClaw简介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381000" y="1244600"/>
            <a:ext cx="82169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miter lim="10000000"/>
          </a:ln>
          <a:effectLst>
            <a:outerShdw dir="5400000" dist="25400" blurRad="38100" algn="bl" sx="100000" sy="100000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71500" y="1447800"/>
            <a:ext cx="863600" cy="317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B82F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基本概念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35000" y="1765300"/>
            <a:ext cx="7810500" cy="889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  <a:sym typeface="Microsoft YaHei"/>
                <a:hlinkClick r:id="rId2" tooltip="https://openclaw.ai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OpenClaw</a:t>
            </a:r>
            <a:r>
              <a:rPr lang="en-US" b="false" i="false" strike="noStrike" u="none" sz="14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是一款开源的个人 AI Agent 系统，可以运行在你的个人电脑或服务器上。</a:t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相比以往的 AI Agent，OpenClaw 最大的不同在于：他是完全属于你的私人助理，拥有长期记忆、能力持续进化，拥有更高的权限，能直接操作你电脑、本地运行、还能 24 小时主动干活。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rcRect l="7359" r="7359" t="0" b="0"/>
          <a:stretch>
            <a:fillRect/>
          </a:stretch>
        </p:blipFill>
        <p:spPr>
          <a:xfrm rot="0" flipH="false" flipV="false">
            <a:off x="10363200" y="0"/>
            <a:ext cx="1828800" cy="1524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8" id="8"/>
          <p:cNvSpPr/>
          <p:nvPr/>
        </p:nvSpPr>
        <p:spPr>
          <a:xfrm rot="0" flipH="false" flipV="false">
            <a:off x="8382000" y="1079500"/>
            <a:ext cx="3302000" cy="1524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94A3B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OpenCLAW 开发者</a:t>
            </a:r>
            <a:r>
              <a:rPr lang="en-US" b="false" i="false" strike="noStrike" u="none" sz="16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true" i="false" strike="noStrike" u="none" sz="18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彼得·斯坦伯格</a:t>
            </a:r>
            <a:r>
              <a:rPr lang="en-US" b="false" i="false" strike="noStrike" u="none" sz="16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/>
            </a:r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4748B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Peter Steinberger (奥地利)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81000" y="2921000"/>
            <a:ext cx="11176000" cy="2099145"/>
          </a:xfrm>
          <a:prstGeom prst="roundRect">
            <a:avLst>
              <a:gd name="adj" fmla="val 484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miter lim="10000000"/>
          </a:ln>
          <a:effectLst>
            <a:outerShdw dir="5400000" dist="25400" blurRad="38100" algn="bl" sx="100000" sy="100000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35000" y="3175000"/>
            <a:ext cx="15240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63500" rIns="63500" tIns="63500" bIns="6350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B82F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发展历程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35000" y="3873500"/>
            <a:ext cx="10160000" cy="25400"/>
          </a:xfrm>
          <a:prstGeom prst="roundRect">
            <a:avLst>
              <a:gd name="adj" fmla="val 0"/>
            </a:avLst>
          </a:prstGeom>
          <a:solidFill>
            <a:srgbClr val="CBD5E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891442" y="3818173"/>
            <a:ext cx="152400" cy="152400"/>
          </a:xfrm>
          <a:prstGeom prst="ellipse">
            <a:avLst/>
          </a:prstGeom>
          <a:solidFill>
            <a:srgbClr val="3B82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693023" y="4064000"/>
            <a:ext cx="1257300" cy="6096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63500" rIns="63500" tIns="63500" bIns="6350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3B82F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2025.11</a:t>
            </a:r>
            <a:r>
              <a:rPr lang="en-US" b="false" i="false" strike="noStrike" u="none" sz="12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/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Clawdbot诞生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260850" y="3822700"/>
            <a:ext cx="152400" cy="152400"/>
          </a:xfrm>
          <a:prstGeom prst="ellipse">
            <a:avLst/>
          </a:prstGeom>
          <a:solidFill>
            <a:srgbClr val="3B82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860824" y="3111500"/>
            <a:ext cx="2794000" cy="762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63500" rIns="63500" tIns="63500" bIns="6350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3B82F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2026.1.27</a:t>
            </a:r>
            <a:r>
              <a:rPr lang="en-US" b="false" i="false" strike="noStrike" u="none" sz="12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/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更名为Moltbot（因商标问题）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968789" y="3822700"/>
            <a:ext cx="152400" cy="152400"/>
          </a:xfrm>
          <a:prstGeom prst="ellipse">
            <a:avLst/>
          </a:prstGeom>
          <a:solidFill>
            <a:srgbClr val="3B82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327189" y="4064000"/>
            <a:ext cx="2794000" cy="762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63500" rIns="63500" tIns="63500" bIns="6350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3B82F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2026.1.30</a:t>
            </a:r>
            <a:r>
              <a:rPr lang="en-US" b="false" i="false" strike="noStrike" u="none" sz="12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/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正式更名为OpenClaw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654824" y="3822700"/>
            <a:ext cx="152400" cy="152400"/>
          </a:xfrm>
          <a:prstGeom prst="ellipse">
            <a:avLst/>
          </a:prstGeom>
          <a:solidFill>
            <a:srgbClr val="3B82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597900" y="3111500"/>
            <a:ext cx="2794000" cy="762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63500" rIns="63500" tIns="63500" bIns="6350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3B82F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2026.2</a:t>
            </a:r>
            <a:r>
              <a:rPr lang="en-US" b="false" i="false" strike="noStrike" u="none" sz="12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/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GitHub最快开源项目破10万+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false">
            <a:gsLst>
              <a:gs pos="0">
                <a:srgbClr val="F8FAFC">
                  <a:alpha val="100000"/>
                </a:srgbClr>
              </a:gs>
              <a:gs pos="100000">
                <a:srgbClr val="E2E8F0">
                  <a:alpha val="100000"/>
                </a:srgbClr>
              </a:gs>
            </a:gsLst>
            <a:lin ang="540000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914400" y="393700"/>
            <a:ext cx="5372100" cy="6096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3200">
                <a:solidFill>
                  <a:srgbClr val="1E293B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OpenClaw简介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381000" y="1244600"/>
            <a:ext cx="82169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miter lim="10000000"/>
          </a:ln>
          <a:effectLst>
            <a:outerShdw dir="5400000" dist="25400" blurRad="38100" algn="bl" sx="100000" sy="100000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71500" y="1447800"/>
            <a:ext cx="863600" cy="317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B82F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基本概念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35000" y="1765300"/>
            <a:ext cx="7810500" cy="889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  <a:sym typeface="Microsoft YaHei"/>
                <a:hlinkClick r:id="rId2" tooltip="https://openclaw.ai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OpenClaw</a:t>
            </a:r>
            <a:r>
              <a:rPr lang="en-US" b="false" i="false" strike="noStrike" u="none" sz="14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是一款开源的个人 AI Agent 系统，可以运行在你的个人电脑或服务器上。</a:t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相比以往的 AI Agent，OpenClaw 最大的不同在于：他是完全属于你的私人助理，拥有长期记忆、能力持续进化，拥有更高的权限，能直接操作你电脑、本地运行、还能 24 小时主动干活。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rcRect l="7359" r="7359" t="0" b="0"/>
          <a:stretch>
            <a:fillRect/>
          </a:stretch>
        </p:blipFill>
        <p:spPr>
          <a:xfrm rot="0" flipH="false" flipV="false">
            <a:off x="10363200" y="0"/>
            <a:ext cx="1828800" cy="1524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8" id="8"/>
          <p:cNvSpPr/>
          <p:nvPr/>
        </p:nvSpPr>
        <p:spPr>
          <a:xfrm rot="0" flipH="false" flipV="false">
            <a:off x="8382000" y="1079500"/>
            <a:ext cx="3302000" cy="1524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94A3B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OpenCLAW 开发者</a:t>
            </a:r>
            <a:r>
              <a:rPr lang="en-US" b="false" i="false" strike="noStrike" u="none" sz="16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true" i="false" strike="noStrike" u="none" sz="18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彼得·斯坦伯格</a:t>
            </a:r>
            <a:r>
              <a:rPr lang="en-US" b="false" i="false" strike="noStrike" u="none" sz="16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/>
            </a:r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4748B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Peter Steinberger (奥地利)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81000" y="2921000"/>
            <a:ext cx="11176000" cy="2099145"/>
          </a:xfrm>
          <a:prstGeom prst="roundRect">
            <a:avLst>
              <a:gd name="adj" fmla="val 484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miter lim="10000000"/>
          </a:ln>
          <a:effectLst>
            <a:outerShdw dir="5400000" dist="25400" blurRad="38100" algn="bl" sx="100000" sy="100000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35000" y="3175000"/>
            <a:ext cx="15240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63500" rIns="63500" tIns="63500" bIns="6350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B82F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发展历程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35000" y="3873500"/>
            <a:ext cx="10160000" cy="25400"/>
          </a:xfrm>
          <a:prstGeom prst="roundRect">
            <a:avLst>
              <a:gd name="adj" fmla="val 0"/>
            </a:avLst>
          </a:prstGeom>
          <a:solidFill>
            <a:srgbClr val="CBD5E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891442" y="3818173"/>
            <a:ext cx="152400" cy="152400"/>
          </a:xfrm>
          <a:prstGeom prst="ellipse">
            <a:avLst/>
          </a:prstGeom>
          <a:solidFill>
            <a:srgbClr val="3B82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693023" y="4064000"/>
            <a:ext cx="1257300" cy="6096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63500" rIns="63500" tIns="63500" bIns="6350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3B82F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2025.11</a:t>
            </a:r>
            <a:r>
              <a:rPr lang="en-US" b="false" i="false" strike="noStrike" u="none" sz="12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/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Clawdbot诞生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260850" y="3822700"/>
            <a:ext cx="152400" cy="152400"/>
          </a:xfrm>
          <a:prstGeom prst="ellipse">
            <a:avLst/>
          </a:prstGeom>
          <a:solidFill>
            <a:srgbClr val="3B82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860824" y="3111500"/>
            <a:ext cx="2794000" cy="762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63500" rIns="63500" tIns="63500" bIns="6350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3B82F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2026.1.27</a:t>
            </a:r>
            <a:r>
              <a:rPr lang="en-US" b="false" i="false" strike="noStrike" u="none" sz="12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/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更名为Moltbot（因商标问题）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968789" y="3822700"/>
            <a:ext cx="152400" cy="152400"/>
          </a:xfrm>
          <a:prstGeom prst="ellipse">
            <a:avLst/>
          </a:prstGeom>
          <a:solidFill>
            <a:srgbClr val="3B82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327189" y="4064000"/>
            <a:ext cx="2794000" cy="762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63500" rIns="63500" tIns="63500" bIns="6350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3B82F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2026.1.30</a:t>
            </a:r>
            <a:r>
              <a:rPr lang="en-US" b="false" i="false" strike="noStrike" u="none" sz="12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/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正式更名为OpenClaw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654824" y="3822700"/>
            <a:ext cx="152400" cy="152400"/>
          </a:xfrm>
          <a:prstGeom prst="ellipse">
            <a:avLst/>
          </a:prstGeom>
          <a:solidFill>
            <a:srgbClr val="3B82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597900" y="3111500"/>
            <a:ext cx="2794000" cy="762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63500" rIns="63500" tIns="63500" bIns="6350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3B82F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2026.2</a:t>
            </a:r>
            <a:r>
              <a:rPr lang="en-US" b="false" i="false" strike="noStrike" u="none" sz="12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/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GitHub最快开源项目破10万+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32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381000" y="254000"/>
            <a:ext cx="304800" cy="304800"/>
          </a:xfrm>
          <a:prstGeom prst="rect">
            <a:avLst/>
          </a:prstGeom>
        </p:spPr>
      </p:pic>
      <p:sp>
        <p:nvSpPr>
          <p:cNvPr name="AutoShape 3" id="3"/>
          <p:cNvSpPr/>
          <p:nvPr/>
        </p:nvSpPr>
        <p:spPr>
          <a:xfrm rot="0" flipH="false" flipV="false">
            <a:off x="762000" y="203200"/>
            <a:ext cx="1016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OpenClaw核心功能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381000" y="889000"/>
            <a:ext cx="5588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2895600" y="10795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381000" y="1524000"/>
            <a:ext cx="558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本地系统操作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71500" y="1905000"/>
            <a:ext cx="5207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可获取本地系统的访问权限，实现文件操作、Shell命令执行、脚本运行等管控能力。支持批量管理文件、执行终端命令、管理进程，减少终端与图形界面切换成本。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35000" y="2794000"/>
            <a:ext cx="177800" cy="177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863600" y="2743200"/>
            <a:ext cx="101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文件自动化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968500" y="2794000"/>
            <a:ext cx="177800" cy="177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2197100" y="2743200"/>
            <a:ext cx="76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终端辅助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3048000" y="2794000"/>
            <a:ext cx="177800" cy="177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3276600" y="2743200"/>
            <a:ext cx="101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本地模型联动</a:t>
            </a:r>
            <a:endParaRPr lang="en-US" sz="1100"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4381500" y="2794000"/>
            <a:ext cx="177800" cy="1778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4610100" y="2743200"/>
            <a:ext cx="76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系统管理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223000" y="889000"/>
            <a:ext cx="5588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8737600" y="1079500"/>
            <a:ext cx="406400" cy="4064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6223000" y="1524000"/>
            <a:ext cx="558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多聊天平台适配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413500" y="1905000"/>
            <a:ext cx="5207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支持对接WhatsApp、Telegram、Discord、Slack等应用。用户可通过常用聊天工具直接下达指令，执行结果实时反馈至窗口，无需额外打开工具，提升便捷性。</a:t>
            </a:r>
            <a:endParaRPr lang="en-US" sz="1100"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477000" y="2794000"/>
            <a:ext cx="177800" cy="1778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6705600" y="2743200"/>
            <a:ext cx="889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WhatsApp</a:t>
            </a:r>
            <a:endParaRPr lang="en-US" sz="1100"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7683500" y="2794000"/>
            <a:ext cx="177800" cy="1778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7912100" y="2743200"/>
            <a:ext cx="889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Telegram</a:t>
            </a:r>
            <a:endParaRPr lang="en-US" sz="1100"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890000" y="2794000"/>
            <a:ext cx="177800" cy="1778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9118600" y="2743200"/>
            <a:ext cx="76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Discord</a:t>
            </a:r>
            <a:endParaRPr lang="en-US" sz="1100"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9969500" y="2794000"/>
            <a:ext cx="177800" cy="1778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10198100" y="2743200"/>
            <a:ext cx="635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Slack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381000" y="3683000"/>
            <a:ext cx="5588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2895600" y="3873500"/>
            <a:ext cx="406400" cy="406400"/>
          </a:xfrm>
          <a:prstGeom prst="rect">
            <a:avLst/>
          </a:prstGeom>
        </p:spPr>
      </p:pic>
      <p:sp>
        <p:nvSpPr>
          <p:cNvPr name="AutoShape 30" id="30"/>
          <p:cNvSpPr/>
          <p:nvPr/>
        </p:nvSpPr>
        <p:spPr>
          <a:xfrm rot="0" flipH="false" flipV="false">
            <a:off x="381000" y="4318000"/>
            <a:ext cx="558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办公自动化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571500" y="4699000"/>
            <a:ext cx="5207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接管部分重复办公任务，通过自动化脚本与API调用减少人工操作。可自动处理邮件、管理日程、生成报表、审核文档，适用于职场办公与团队协作场景。</a:t>
            </a:r>
            <a:endParaRPr lang="en-US" sz="1100"/>
          </a:p>
        </p:txBody>
      </p:sp>
      <p:pic>
        <p:nvPicPr>
          <p:cNvPr name="Picture 32" id="3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35000" y="5588000"/>
            <a:ext cx="177800" cy="177800"/>
          </a:xfrm>
          <a:prstGeom prst="rect">
            <a:avLst/>
          </a:prstGeom>
        </p:spPr>
      </p:pic>
      <p:sp>
        <p:nvSpPr>
          <p:cNvPr name="AutoShape 33" id="33"/>
          <p:cNvSpPr/>
          <p:nvPr/>
        </p:nvSpPr>
        <p:spPr>
          <a:xfrm rot="0" flipH="false" flipV="false">
            <a:off x="863600" y="5537200"/>
            <a:ext cx="76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邮件管理</a:t>
            </a:r>
            <a:endParaRPr lang="en-US" sz="1100"/>
          </a:p>
        </p:txBody>
      </p:sp>
      <p:pic>
        <p:nvPicPr>
          <p:cNvPr name="Picture 34" id="3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714500" y="5588000"/>
            <a:ext cx="177800" cy="177800"/>
          </a:xfrm>
          <a:prstGeom prst="rect">
            <a:avLst/>
          </a:prstGeom>
        </p:spPr>
      </p:pic>
      <p:sp>
        <p:nvSpPr>
          <p:cNvPr name="AutoShape 35" id="35"/>
          <p:cNvSpPr/>
          <p:nvPr/>
        </p:nvSpPr>
        <p:spPr>
          <a:xfrm rot="0" flipH="false" flipV="false">
            <a:off x="1943100" y="5537200"/>
            <a:ext cx="76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日程同步</a:t>
            </a:r>
            <a:endParaRPr lang="en-US" sz="1100"/>
          </a:p>
        </p:txBody>
      </p:sp>
      <p:pic>
        <p:nvPicPr>
          <p:cNvPr name="Picture 36" id="3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2794000" y="5588000"/>
            <a:ext cx="177800" cy="177800"/>
          </a:xfrm>
          <a:prstGeom prst="rect">
            <a:avLst/>
          </a:prstGeom>
        </p:spPr>
      </p:pic>
      <p:sp>
        <p:nvSpPr>
          <p:cNvPr name="AutoShape 37" id="37"/>
          <p:cNvSpPr/>
          <p:nvPr/>
        </p:nvSpPr>
        <p:spPr>
          <a:xfrm rot="0" flipH="false" flipV="false">
            <a:off x="3022600" y="5537200"/>
            <a:ext cx="76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报表生成</a:t>
            </a:r>
            <a:endParaRPr lang="en-US" sz="1100"/>
          </a:p>
        </p:txBody>
      </p:sp>
      <p:pic>
        <p:nvPicPr>
          <p:cNvPr name="Picture 38" id="38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3873500" y="5588000"/>
            <a:ext cx="177800" cy="177800"/>
          </a:xfrm>
          <a:prstGeom prst="rect">
            <a:avLst/>
          </a:prstGeom>
        </p:spPr>
      </p:pic>
      <p:sp>
        <p:nvSpPr>
          <p:cNvPr name="AutoShape 39" id="39"/>
          <p:cNvSpPr/>
          <p:nvPr/>
        </p:nvSpPr>
        <p:spPr>
          <a:xfrm rot="0" flipH="false" flipV="false">
            <a:off x="4102100" y="5537200"/>
            <a:ext cx="76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文档处理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6223000" y="3683000"/>
            <a:ext cx="5588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1" id="41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8737600" y="3873500"/>
            <a:ext cx="406400" cy="406400"/>
          </a:xfrm>
          <a:prstGeom prst="rect">
            <a:avLst/>
          </a:prstGeom>
        </p:spPr>
      </p:pic>
      <p:sp>
        <p:nvSpPr>
          <p:cNvPr name="AutoShape 42" id="42"/>
          <p:cNvSpPr/>
          <p:nvPr/>
        </p:nvSpPr>
        <p:spPr>
          <a:xfrm rot="0" flipH="false" flipV="false">
            <a:off x="6223000" y="4318000"/>
            <a:ext cx="558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浏览器自动化</a:t>
            </a:r>
            <a:endParaRPr lang="en-US" sz="1100"/>
          </a:p>
        </p:txBody>
      </p:sp>
      <p:sp>
        <p:nvSpPr>
          <p:cNvPr name="AutoShape 43" id="43"/>
          <p:cNvSpPr/>
          <p:nvPr/>
        </p:nvSpPr>
        <p:spPr>
          <a:xfrm rot="0" flipH="false" flipV="false">
            <a:off x="6413500" y="4699000"/>
            <a:ext cx="5207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集成Playwright工具，模拟人工进行网页浏览、表单填写、数据提取、账号登录等操作。无需手动操控浏览器，适用于网页数据采集、自动化测试等场景。</a:t>
            </a:r>
            <a:endParaRPr lang="en-US" sz="1100"/>
          </a:p>
        </p:txBody>
      </p:sp>
      <p:pic>
        <p:nvPicPr>
          <p:cNvPr name="Picture 44" id="4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477000" y="5588000"/>
            <a:ext cx="177800" cy="177800"/>
          </a:xfrm>
          <a:prstGeom prst="rect">
            <a:avLst/>
          </a:prstGeom>
        </p:spPr>
      </p:pic>
      <p:sp>
        <p:nvSpPr>
          <p:cNvPr name="AutoShape 45" id="45"/>
          <p:cNvSpPr/>
          <p:nvPr/>
        </p:nvSpPr>
        <p:spPr>
          <a:xfrm rot="0" flipH="false" flipV="false">
            <a:off x="6705600" y="5537200"/>
            <a:ext cx="76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网页浏览</a:t>
            </a:r>
            <a:endParaRPr lang="en-US" sz="1100"/>
          </a:p>
        </p:txBody>
      </p:sp>
      <p:pic>
        <p:nvPicPr>
          <p:cNvPr name="Picture 46" id="4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7620000" y="5588000"/>
            <a:ext cx="177800" cy="177800"/>
          </a:xfrm>
          <a:prstGeom prst="rect">
            <a:avLst/>
          </a:prstGeom>
        </p:spPr>
      </p:pic>
      <p:sp>
        <p:nvSpPr>
          <p:cNvPr name="AutoShape 47" id="47"/>
          <p:cNvSpPr/>
          <p:nvPr/>
        </p:nvSpPr>
        <p:spPr>
          <a:xfrm rot="0" flipH="false" flipV="false">
            <a:off x="7848600" y="5537200"/>
            <a:ext cx="76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表单填写</a:t>
            </a:r>
            <a:endParaRPr lang="en-US" sz="1100"/>
          </a:p>
        </p:txBody>
      </p:sp>
      <p:pic>
        <p:nvPicPr>
          <p:cNvPr name="Picture 48" id="48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763000" y="5588000"/>
            <a:ext cx="177800" cy="177800"/>
          </a:xfrm>
          <a:prstGeom prst="rect">
            <a:avLst/>
          </a:prstGeom>
        </p:spPr>
      </p:pic>
      <p:sp>
        <p:nvSpPr>
          <p:cNvPr name="AutoShape 49" id="49"/>
          <p:cNvSpPr/>
          <p:nvPr/>
        </p:nvSpPr>
        <p:spPr>
          <a:xfrm rot="0" flipH="false" flipV="false">
            <a:off x="8991600" y="5537200"/>
            <a:ext cx="76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数据提取</a:t>
            </a:r>
            <a:endParaRPr lang="en-US" sz="1100"/>
          </a:p>
        </p:txBody>
      </p:sp>
      <p:pic>
        <p:nvPicPr>
          <p:cNvPr name="Picture 50" id="5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9906000" y="5588000"/>
            <a:ext cx="177800" cy="177800"/>
          </a:xfrm>
          <a:prstGeom prst="rect">
            <a:avLst/>
          </a:prstGeom>
        </p:spPr>
      </p:pic>
      <p:sp>
        <p:nvSpPr>
          <p:cNvPr name="AutoShape 51" id="51"/>
          <p:cNvSpPr/>
          <p:nvPr/>
        </p:nvSpPr>
        <p:spPr>
          <a:xfrm rot="0" flipH="false" flipV="false">
            <a:off x="10134600" y="5537200"/>
            <a:ext cx="76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账号管理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9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08000" y="317500"/>
            <a:ext cx="1117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OpenCLAW应用场景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08000" y="1016000"/>
            <a:ext cx="5461000" cy="1714500"/>
          </a:xfrm>
          <a:prstGeom prst="roundRect">
            <a:avLst>
              <a:gd name="adj" fmla="val 7407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01600" algn="tl" rotWithShape="false">
              <a:srgbClr val="1F2329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698500" y="1168400"/>
            <a:ext cx="254000" cy="2540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016000" y="11430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开发与运维场景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98500" y="1549400"/>
            <a:ext cx="203200" cy="2032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990600" y="1524000"/>
            <a:ext cx="4699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代码辅助：</a:t>
            </a:r>
            <a:r>
              <a:rPr lang="en-US" b="fals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自动补全、代码审查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98500" y="1879600"/>
            <a:ext cx="203200" cy="2032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990600" y="1854200"/>
            <a:ext cx="4699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运维自动化：</a:t>
            </a:r>
            <a:r>
              <a:rPr lang="en-US" b="fals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监控、部署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98500" y="2209800"/>
            <a:ext cx="203200" cy="2032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990600" y="2184400"/>
            <a:ext cx="4699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Bug修复：</a:t>
            </a:r>
            <a:r>
              <a:rPr lang="en-US" b="fals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快速定位并修复代码问题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08000" y="2857500"/>
            <a:ext cx="5461000" cy="2095500"/>
          </a:xfrm>
          <a:prstGeom prst="roundRect">
            <a:avLst>
              <a:gd name="adj" fmla="val 606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01600" algn="tl" rotWithShape="false">
              <a:srgbClr val="1F2329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98500" y="3009900"/>
            <a:ext cx="254000" cy="2540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016000" y="29845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办公自动化场景</a:t>
            </a:r>
            <a:endParaRPr lang="en-US" sz="1100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698500" y="3390900"/>
            <a:ext cx="203200" cy="2032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990600" y="3365500"/>
            <a:ext cx="4699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邮件管理：</a:t>
            </a:r>
            <a:r>
              <a:rPr lang="en-US" b="fals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自动分类、回复</a:t>
            </a:r>
            <a:endParaRPr lang="en-US" sz="1100"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698500" y="3721100"/>
            <a:ext cx="203200" cy="2032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990600" y="3695700"/>
            <a:ext cx="4699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日程安排：</a:t>
            </a:r>
            <a:r>
              <a:rPr lang="en-US" b="fals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智能规划会议与事务</a:t>
            </a:r>
            <a:endParaRPr lang="en-US" sz="1100"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 flipH="false" flipV="false">
            <a:off x="698500" y="4051300"/>
            <a:ext cx="203200" cy="2032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990600" y="4025900"/>
            <a:ext cx="4699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文档处理：</a:t>
            </a:r>
            <a:r>
              <a:rPr lang="en-US" b="fals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格式转换、内容提取</a:t>
            </a:r>
            <a:endParaRPr lang="en-US" sz="1100"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0" flipH="false" flipV="false">
            <a:off x="698500" y="4381500"/>
            <a:ext cx="203200" cy="2032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990600" y="4356100"/>
            <a:ext cx="4699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报表生成：</a:t>
            </a:r>
            <a:r>
              <a:rPr lang="en-US" b="fals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自动汇总数据生成报表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223000" y="1016000"/>
            <a:ext cx="5461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01600" algn="tl" rotWithShape="false">
              <a:srgbClr val="1F2329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rot="0" flipH="false" flipV="false">
            <a:off x="6413500" y="1168400"/>
            <a:ext cx="254000" cy="2540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6731000" y="11430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典型应用案例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413500" y="1587500"/>
            <a:ext cx="2476500" cy="508000"/>
          </a:xfrm>
          <a:prstGeom prst="roundRect">
            <a:avLst>
              <a:gd name="adj" fmla="val 12500"/>
            </a:avLst>
          </a:prstGeom>
          <a:solidFill>
            <a:srgbClr val="F8FAF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0" flipH="false" flipV="false">
            <a:off x="6540500" y="1714500"/>
            <a:ext cx="254000" cy="254000"/>
          </a:xfrm>
          <a:prstGeom prst="rect">
            <a:avLst/>
          </a:prstGeom>
        </p:spPr>
      </p:pic>
      <p:sp>
        <p:nvSpPr>
          <p:cNvPr name="AutoShape 28" id="28"/>
          <p:cNvSpPr/>
          <p:nvPr/>
        </p:nvSpPr>
        <p:spPr>
          <a:xfrm rot="0" flipH="false" flipV="false">
            <a:off x="6858000" y="1689100"/>
            <a:ext cx="190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智能购物：</a:t>
            </a:r>
            <a:r>
              <a:rPr lang="en-US" b="false" i="false" strike="noStrike" u="none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比价、下单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9017000" y="1587500"/>
            <a:ext cx="2476500" cy="508000"/>
          </a:xfrm>
          <a:prstGeom prst="roundRect">
            <a:avLst>
              <a:gd name="adj" fmla="val 12500"/>
            </a:avLst>
          </a:prstGeom>
          <a:solidFill>
            <a:srgbClr val="F8FAF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 rot="0" flipH="false" flipV="false">
            <a:off x="9144000" y="1714500"/>
            <a:ext cx="254000" cy="254000"/>
          </a:xfrm>
          <a:prstGeom prst="rect">
            <a:avLst/>
          </a:prstGeom>
        </p:spPr>
      </p:pic>
      <p:sp>
        <p:nvSpPr>
          <p:cNvPr name="AutoShape 31" id="31"/>
          <p:cNvSpPr/>
          <p:nvPr/>
        </p:nvSpPr>
        <p:spPr>
          <a:xfrm rot="0" flipH="false" flipV="false">
            <a:off x="9461500" y="1689100"/>
            <a:ext cx="190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信息搜索：</a:t>
            </a:r>
            <a:r>
              <a:rPr lang="en-US" b="false" i="false" strike="noStrike" u="none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资讯、问答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6413500" y="2159000"/>
            <a:ext cx="2476500" cy="508000"/>
          </a:xfrm>
          <a:prstGeom prst="roundRect">
            <a:avLst>
              <a:gd name="adj" fmla="val 12500"/>
            </a:avLst>
          </a:prstGeom>
          <a:solidFill>
            <a:srgbClr val="F8FAF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3" id="33"/>
          <p:cNvPicPr>
            <a:picLocks noChangeAspect="true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0" flipH="false" flipV="false">
            <a:off x="6540500" y="2286000"/>
            <a:ext cx="254000" cy="254000"/>
          </a:xfrm>
          <a:prstGeom prst="rect">
            <a:avLst/>
          </a:prstGeom>
        </p:spPr>
      </p:pic>
      <p:sp>
        <p:nvSpPr>
          <p:cNvPr name="AutoShape 34" id="34"/>
          <p:cNvSpPr/>
          <p:nvPr/>
        </p:nvSpPr>
        <p:spPr>
          <a:xfrm rot="0" flipH="false" flipV="false">
            <a:off x="6858000" y="2260600"/>
            <a:ext cx="190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内容创作：</a:t>
            </a:r>
            <a:r>
              <a:rPr lang="en-US" b="false" i="false" strike="noStrike" u="none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文案、翻译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9017000" y="2159000"/>
            <a:ext cx="2476500" cy="508000"/>
          </a:xfrm>
          <a:prstGeom prst="roundRect">
            <a:avLst>
              <a:gd name="adj" fmla="val 12500"/>
            </a:avLst>
          </a:prstGeom>
          <a:solidFill>
            <a:srgbClr val="F8FAF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6" id="36"/>
          <p:cNvPicPr>
            <a:picLocks noChangeAspect="true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 rot="0" flipH="false" flipV="false">
            <a:off x="9144000" y="2286000"/>
            <a:ext cx="254000" cy="254000"/>
          </a:xfrm>
          <a:prstGeom prst="rect">
            <a:avLst/>
          </a:prstGeom>
        </p:spPr>
      </p:pic>
      <p:sp>
        <p:nvSpPr>
          <p:cNvPr name="AutoShape 37" id="37"/>
          <p:cNvSpPr/>
          <p:nvPr/>
        </p:nvSpPr>
        <p:spPr>
          <a:xfrm rot="0" flipH="false" flipV="false">
            <a:off x="9461500" y="2260600"/>
            <a:ext cx="190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社交管理：</a:t>
            </a:r>
            <a:r>
              <a:rPr lang="en-US" b="false" i="false" strike="noStrike" u="none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回复、发布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6413500" y="2730500"/>
            <a:ext cx="2476500" cy="508000"/>
          </a:xfrm>
          <a:prstGeom prst="roundRect">
            <a:avLst>
              <a:gd name="adj" fmla="val 12500"/>
            </a:avLst>
          </a:prstGeom>
          <a:solidFill>
            <a:srgbClr val="F8FAF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9" id="39"/>
          <p:cNvPicPr>
            <a:picLocks noChangeAspect="true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 rot="0" flipH="false" flipV="false">
            <a:off x="6540500" y="2857500"/>
            <a:ext cx="254000" cy="254000"/>
          </a:xfrm>
          <a:prstGeom prst="rect">
            <a:avLst/>
          </a:prstGeom>
        </p:spPr>
      </p:pic>
      <p:sp>
        <p:nvSpPr>
          <p:cNvPr name="AutoShape 40" id="40"/>
          <p:cNvSpPr/>
          <p:nvPr/>
        </p:nvSpPr>
        <p:spPr>
          <a:xfrm rot="0" flipH="false" flipV="false">
            <a:off x="6858000" y="2832100"/>
            <a:ext cx="190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智能家居：</a:t>
            </a:r>
            <a:r>
              <a:rPr lang="en-US" b="false" i="false" strike="noStrike" u="none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设备控制</a:t>
            </a:r>
            <a:endParaRPr lang="en-US" sz="1100"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6223000" y="3429000"/>
            <a:ext cx="5461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01600" algn="tl" rotWithShape="false">
              <a:srgbClr val="1F2329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2" id="42"/>
          <p:cNvPicPr>
            <a:picLocks noChangeAspect="true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 rot="0" flipH="false" flipV="false">
            <a:off x="6413500" y="3581400"/>
            <a:ext cx="254000" cy="254000"/>
          </a:xfrm>
          <a:prstGeom prst="rect">
            <a:avLst/>
          </a:prstGeom>
        </p:spPr>
      </p:pic>
      <p:sp>
        <p:nvSpPr>
          <p:cNvPr name="AutoShape 43" id="43"/>
          <p:cNvSpPr/>
          <p:nvPr/>
        </p:nvSpPr>
        <p:spPr>
          <a:xfrm rot="0" flipH="false" flipV="false">
            <a:off x="6731000" y="35560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目标用户群体</a:t>
            </a:r>
            <a:endParaRPr lang="en-US" sz="1100"/>
          </a:p>
        </p:txBody>
      </p:sp>
      <p:pic>
        <p:nvPicPr>
          <p:cNvPr name="Picture 44" id="44"/>
          <p:cNvPicPr>
            <a:picLocks noChangeAspect="true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 rot="0" flipH="false" flipV="false">
            <a:off x="6413500" y="3962400"/>
            <a:ext cx="203200" cy="203200"/>
          </a:xfrm>
          <a:prstGeom prst="rect">
            <a:avLst/>
          </a:prstGeom>
        </p:spPr>
      </p:pic>
      <p:sp>
        <p:nvSpPr>
          <p:cNvPr name="AutoShape 45" id="45"/>
          <p:cNvSpPr/>
          <p:nvPr/>
        </p:nvSpPr>
        <p:spPr>
          <a:xfrm rot="0" flipH="false" flipV="false">
            <a:off x="6705600" y="3937000"/>
            <a:ext cx="4699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技术爱好者/开发者：</a:t>
            </a:r>
            <a:r>
              <a:rPr lang="en-US" b="fals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追求技术创新与效率提升</a:t>
            </a:r>
            <a:endParaRPr lang="en-US" sz="1100"/>
          </a:p>
        </p:txBody>
      </p:sp>
      <p:pic>
        <p:nvPicPr>
          <p:cNvPr name="Picture 46" id="46"/>
          <p:cNvPicPr>
            <a:picLocks noChangeAspect="true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 rot="0" flipH="false" flipV="false">
            <a:off x="6413500" y="4292600"/>
            <a:ext cx="203200" cy="203200"/>
          </a:xfrm>
          <a:prstGeom prst="rect">
            <a:avLst/>
          </a:prstGeom>
        </p:spPr>
      </p:pic>
      <p:sp>
        <p:nvSpPr>
          <p:cNvPr name="AutoShape 47" id="47"/>
          <p:cNvSpPr/>
          <p:nvPr/>
        </p:nvSpPr>
        <p:spPr>
          <a:xfrm rot="0" flipH="false" flipV="false">
            <a:off x="6705600" y="4267200"/>
            <a:ext cx="4699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商务人士/自由职业者：</a:t>
            </a:r>
            <a:r>
              <a:rPr lang="en-US" b="fals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需要多场景协作与提效</a:t>
            </a:r>
            <a:endParaRPr lang="en-US" sz="1100"/>
          </a:p>
        </p:txBody>
      </p:sp>
      <p:pic>
        <p:nvPicPr>
          <p:cNvPr name="Picture 48" id="48"/>
          <p:cNvPicPr>
            <a:picLocks noChangeAspect="true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 rot="0" flipH="false" flipV="false">
            <a:off x="6413500" y="4622800"/>
            <a:ext cx="203200" cy="203200"/>
          </a:xfrm>
          <a:prstGeom prst="rect">
            <a:avLst/>
          </a:prstGeom>
        </p:spPr>
      </p:pic>
      <p:sp>
        <p:nvSpPr>
          <p:cNvPr name="AutoShape 49" id="49"/>
          <p:cNvSpPr/>
          <p:nvPr/>
        </p:nvSpPr>
        <p:spPr>
          <a:xfrm rot="0" flipH="false" flipV="false">
            <a:off x="6705600" y="4597400"/>
            <a:ext cx="4699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AI研究者/学生：</a:t>
            </a:r>
            <a:r>
              <a:rPr lang="en-US" b="fals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探索Agent原理与应用落地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DF4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508000" y="381000"/>
            <a:ext cx="406400" cy="406400"/>
          </a:xfrm>
          <a:prstGeom prst="rect">
            <a:avLst/>
          </a:prstGeom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330200"/>
            <a:ext cx="3556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OpenCLAW部署方式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1016000"/>
            <a:ext cx="5334000" cy="4826000"/>
          </a:xfrm>
          <a:prstGeom prst="roundRect">
            <a:avLst>
              <a:gd name="adj" fmla="val 2631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15803D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711200" y="1219200"/>
            <a:ext cx="304800" cy="304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117600" y="1168400"/>
            <a:ext cx="381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本地部署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11200" y="1625600"/>
            <a:ext cx="49276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在个人设备上运行OpenCLAW，适合个人开发与测试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11200" y="2032000"/>
            <a:ext cx="4927600" cy="558800"/>
          </a:xfrm>
          <a:prstGeom prst="roundRect">
            <a:avLst>
              <a:gd name="adj" fmla="val 11363"/>
            </a:avLst>
          </a:prstGeom>
          <a:solidFill>
            <a:srgbClr val="F0FDF4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38200" y="21590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270000" y="20574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系统准备：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确保系统满足Node.js等最低运行要求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11200" y="2692400"/>
            <a:ext cx="4927600" cy="558800"/>
          </a:xfrm>
          <a:prstGeom prst="roundRect">
            <a:avLst>
              <a:gd name="adj" fmla="val 11363"/>
            </a:avLst>
          </a:prstGeom>
          <a:solidFill>
            <a:srgbClr val="F0FDF4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838200" y="2819400"/>
            <a:ext cx="304800" cy="304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270000" y="27178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克隆源码：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通过Git将OpenCLAW源码仓库克隆到本地环境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11200" y="3352800"/>
            <a:ext cx="4927600" cy="558800"/>
          </a:xfrm>
          <a:prstGeom prst="roundRect">
            <a:avLst>
              <a:gd name="adj" fmla="val 11363"/>
            </a:avLst>
          </a:prstGeom>
          <a:solidFill>
            <a:srgbClr val="F0FDF4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838200" y="3479800"/>
            <a:ext cx="304800" cy="3048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1270000" y="33782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安装依赖：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运行npm install安装项目所需的所有依赖包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11200" y="4013200"/>
            <a:ext cx="4927600" cy="558800"/>
          </a:xfrm>
          <a:prstGeom prst="roundRect">
            <a:avLst>
              <a:gd name="adj" fmla="val 11363"/>
            </a:avLst>
          </a:prstGeom>
          <a:solidFill>
            <a:srgbClr val="F0FDF4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838200" y="4140200"/>
            <a:ext cx="304800" cy="3048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1270000" y="40386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配置模型：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配置OpenAI、Claude或本地Ollama的API密钥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11200" y="4673600"/>
            <a:ext cx="4927600" cy="558800"/>
          </a:xfrm>
          <a:prstGeom prst="roundRect">
            <a:avLst>
              <a:gd name="adj" fmla="val 11363"/>
            </a:avLst>
          </a:prstGeom>
          <a:solidFill>
            <a:srgbClr val="F0FDF4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838200" y="4800600"/>
            <a:ext cx="304800" cy="3048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1270000" y="46990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启动服务：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运行npm start启动OpenCLAW服务并初始化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350000" y="1016000"/>
            <a:ext cx="5334000" cy="4826000"/>
          </a:xfrm>
          <a:prstGeom prst="roundRect">
            <a:avLst>
              <a:gd name="adj" fmla="val 2631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15803D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6553200" y="1219200"/>
            <a:ext cx="304800" cy="3048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6959600" y="1168400"/>
            <a:ext cx="381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云端部署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553200" y="1625600"/>
            <a:ext cx="49276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在云服务器上运行OpenCLAW，支持高并发与远程访问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553200" y="2032000"/>
            <a:ext cx="4927600" cy="558800"/>
          </a:xfrm>
          <a:prstGeom prst="roundRect">
            <a:avLst>
              <a:gd name="adj" fmla="val 11363"/>
            </a:avLst>
          </a:prstGeom>
          <a:solidFill>
            <a:srgbClr val="F0FDF4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 flipH="false" flipV="false">
            <a:off x="6680200" y="2159000"/>
            <a:ext cx="304800" cy="304800"/>
          </a:xfrm>
          <a:prstGeom prst="rect">
            <a:avLst/>
          </a:prstGeom>
        </p:spPr>
      </p:pic>
      <p:sp>
        <p:nvSpPr>
          <p:cNvPr name="AutoShape 29" id="29"/>
          <p:cNvSpPr/>
          <p:nvPr/>
        </p:nvSpPr>
        <p:spPr>
          <a:xfrm rot="0" flipH="false" flipV="false">
            <a:off x="7112000" y="20574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选择云服务：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选择腾讯云、阿里云、AWS等主流云服务商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6553200" y="2692400"/>
            <a:ext cx="4927600" cy="558800"/>
          </a:xfrm>
          <a:prstGeom prst="roundRect">
            <a:avLst>
              <a:gd name="adj" fmla="val 11363"/>
            </a:avLst>
          </a:prstGeom>
          <a:solidFill>
            <a:srgbClr val="F0FDF4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1" id="31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680200" y="2819400"/>
            <a:ext cx="304800" cy="304800"/>
          </a:xfrm>
          <a:prstGeom prst="rect">
            <a:avLst/>
          </a:prstGeom>
        </p:spPr>
      </p:pic>
      <p:sp>
        <p:nvSpPr>
          <p:cNvPr name="AutoShape 32" id="32"/>
          <p:cNvSpPr/>
          <p:nvPr/>
        </p:nvSpPr>
        <p:spPr>
          <a:xfrm rot="0" flipH="false" flipV="false">
            <a:off x="7112000" y="27178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创建实例：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创建满足OpenCLAW运行要求的云服务器实例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6553200" y="3352800"/>
            <a:ext cx="4927600" cy="558800"/>
          </a:xfrm>
          <a:prstGeom prst="roundRect">
            <a:avLst>
              <a:gd name="adj" fmla="val 11363"/>
            </a:avLst>
          </a:prstGeom>
          <a:solidFill>
            <a:srgbClr val="F0FDF4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4" id="34"/>
          <p:cNvPicPr>
            <a:picLocks noChangeAspect="true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0" flipH="false" flipV="false">
            <a:off x="6680200" y="3479800"/>
            <a:ext cx="304800" cy="304800"/>
          </a:xfrm>
          <a:prstGeom prst="rect">
            <a:avLst/>
          </a:prstGeom>
        </p:spPr>
      </p:pic>
      <p:sp>
        <p:nvSpPr>
          <p:cNvPr name="AutoShape 35" id="35"/>
          <p:cNvSpPr/>
          <p:nvPr/>
        </p:nvSpPr>
        <p:spPr>
          <a:xfrm rot="0" flipH="false" flipV="false">
            <a:off x="7112000" y="33782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一键部署：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使用服务商提供的OpenCLAW一键部署服务快速搭建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6553200" y="4013200"/>
            <a:ext cx="4927600" cy="558800"/>
          </a:xfrm>
          <a:prstGeom prst="roundRect">
            <a:avLst>
              <a:gd name="adj" fmla="val 11363"/>
            </a:avLst>
          </a:prstGeom>
          <a:solidFill>
            <a:srgbClr val="F0FDF4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7" id="37"/>
          <p:cNvPicPr>
            <a:picLocks noChangeAspect="true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rot="0" flipH="false" flipV="false">
            <a:off x="6680200" y="4140200"/>
            <a:ext cx="304800" cy="304800"/>
          </a:xfrm>
          <a:prstGeom prst="rect">
            <a:avLst/>
          </a:prstGeom>
        </p:spPr>
      </p:pic>
      <p:sp>
        <p:nvSpPr>
          <p:cNvPr name="AutoShape 38" id="38"/>
          <p:cNvSpPr/>
          <p:nvPr/>
        </p:nvSpPr>
        <p:spPr>
          <a:xfrm rot="0" flipH="false" flipV="false">
            <a:off x="7112000" y="40386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配置访问：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配置安全组规则和访问权限，确保远程访问安全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6553200" y="4673600"/>
            <a:ext cx="4927600" cy="558800"/>
          </a:xfrm>
          <a:prstGeom prst="roundRect">
            <a:avLst>
              <a:gd name="adj" fmla="val 11363"/>
            </a:avLst>
          </a:prstGeom>
          <a:solidFill>
            <a:srgbClr val="F0FDF4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0" id="40"/>
          <p:cNvPicPr>
            <a:picLocks noChangeAspect="true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0" flipH="false" flipV="false">
            <a:off x="6680200" y="4800600"/>
            <a:ext cx="304800" cy="304800"/>
          </a:xfrm>
          <a:prstGeom prst="rect">
            <a:avLst/>
          </a:prstGeom>
        </p:spPr>
      </p:pic>
      <p:sp>
        <p:nvSpPr>
          <p:cNvPr name="AutoShape 41" id="41"/>
          <p:cNvSpPr/>
          <p:nvPr/>
        </p:nvSpPr>
        <p:spPr>
          <a:xfrm rot="0" flipH="false" flipV="false">
            <a:off x="7112000" y="46990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远程管理：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通过SSH或其他远程工具对服务进行管理和维护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381000" y="254000"/>
            <a:ext cx="1143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OpenCLAW安全特性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381000" y="1016000"/>
            <a:ext cx="3556000" cy="1270000"/>
          </a:xfrm>
          <a:prstGeom prst="roundRect">
            <a:avLst>
              <a:gd name="adj" fmla="val 10000"/>
            </a:avLst>
          </a:prstGeom>
          <a:solidFill>
            <a:srgbClr val="FEF2F2">
              <a:alpha val="100000"/>
            </a:srgbClr>
          </a:solidFill>
          <a:ln w="12700" cmpd="sng" cap="flat">
            <a:solidFill>
              <a:srgbClr val="FCA5A5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571500" y="1206500"/>
            <a:ext cx="304800" cy="3048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952500" y="1168400"/>
            <a:ext cx="2794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权限控制机制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71500" y="1587500"/>
            <a:ext cx="317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严格遵循最小权限原则，仅授予完成任务必需的权限，限制对关键系统资源的访问。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127500" y="1016000"/>
            <a:ext cx="3556000" cy="1270000"/>
          </a:xfrm>
          <a:prstGeom prst="roundRect">
            <a:avLst>
              <a:gd name="adj" fmla="val 10000"/>
            </a:avLst>
          </a:prstGeom>
          <a:solidFill>
            <a:srgbClr val="FEF2F2">
              <a:alpha val="100000"/>
            </a:srgbClr>
          </a:solidFill>
          <a:ln w="12700" cmpd="sng" cap="flat">
            <a:solidFill>
              <a:srgbClr val="FCA5A5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318000" y="12065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4699000" y="1168400"/>
            <a:ext cx="2794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认证与加密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318000" y="1587500"/>
            <a:ext cx="317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支持通信链路加密与敏感数据存储加密，保障数据在传输与持久化过程中的安全性。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81000" y="2476500"/>
            <a:ext cx="3556000" cy="1270000"/>
          </a:xfrm>
          <a:prstGeom prst="roundRect">
            <a:avLst>
              <a:gd name="adj" fmla="val 10000"/>
            </a:avLst>
          </a:prstGeom>
          <a:solidFill>
            <a:srgbClr val="FEF2F2">
              <a:alpha val="100000"/>
            </a:srgbClr>
          </a:solidFill>
          <a:ln w="12700" cmpd="sng" cap="flat">
            <a:solidFill>
              <a:srgbClr val="FCA5A5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571500" y="2667000"/>
            <a:ext cx="304800" cy="304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952500" y="2628900"/>
            <a:ext cx="2794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安全审计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71500" y="3048000"/>
            <a:ext cx="317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提供完整的操作日志记录功能，审计所有AI执行的关键操作，便于事后追溯与合规检查。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127500" y="2476500"/>
            <a:ext cx="3556000" cy="1270000"/>
          </a:xfrm>
          <a:prstGeom prst="roundRect">
            <a:avLst>
              <a:gd name="adj" fmla="val 10000"/>
            </a:avLst>
          </a:prstGeom>
          <a:solidFill>
            <a:srgbClr val="FEF2F2">
              <a:alpha val="100000"/>
            </a:srgbClr>
          </a:solidFill>
          <a:ln w="12700" cmpd="sng" cap="flat">
            <a:solidFill>
              <a:srgbClr val="FCA5A5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4318000" y="2667000"/>
            <a:ext cx="304800" cy="3048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4699000" y="2628900"/>
            <a:ext cx="2794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沙箱隔离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318000" y="3048000"/>
            <a:ext cx="317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终端命令默认在Docker容器中执行，实现文件系统与网络环境的隔离，防止恶意命令逃逸。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381000" y="3937000"/>
            <a:ext cx="3556000" cy="1270000"/>
          </a:xfrm>
          <a:prstGeom prst="roundRect">
            <a:avLst>
              <a:gd name="adj" fmla="val 10000"/>
            </a:avLst>
          </a:prstGeom>
          <a:solidFill>
            <a:srgbClr val="FEF2F2">
              <a:alpha val="100000"/>
            </a:srgbClr>
          </a:solidFill>
          <a:ln w="12700" cmpd="sng" cap="flat">
            <a:solidFill>
              <a:srgbClr val="FCA5A5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571500" y="4127500"/>
            <a:ext cx="304800" cy="3048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952500" y="4089400"/>
            <a:ext cx="2794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命令名单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571500" y="4508500"/>
            <a:ext cx="317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维护安全命令白名单，自动拦截危险命令执行，从源头降低命令注入与越权操作风险。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4127500" y="3937000"/>
            <a:ext cx="3556000" cy="1270000"/>
          </a:xfrm>
          <a:prstGeom prst="roundRect">
            <a:avLst>
              <a:gd name="adj" fmla="val 10000"/>
            </a:avLst>
          </a:prstGeom>
          <a:solidFill>
            <a:srgbClr val="FEF2F2">
              <a:alpha val="100000"/>
            </a:srgbClr>
          </a:solidFill>
          <a:ln w="12700" cmpd="sng" cap="flat">
            <a:solidFill>
              <a:srgbClr val="FCA5A5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4318000" y="4127500"/>
            <a:ext cx="304800" cy="3048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4699000" y="4089400"/>
            <a:ext cx="2794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插件安全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4318000" y="4508500"/>
            <a:ext cx="317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建立严格的插件安全审核机制，对社区插件进行代码审查，确保插件无恶意代码。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8001000" y="1016000"/>
            <a:ext cx="3810000" cy="2921000"/>
          </a:xfrm>
          <a:prstGeom prst="roundRect">
            <a:avLst>
              <a:gd name="adj" fmla="val 4347"/>
            </a:avLst>
          </a:prstGeom>
          <a:solidFill>
            <a:srgbClr val="FFF7ED">
              <a:alpha val="100000"/>
            </a:srgbClr>
          </a:solidFill>
          <a:ln w="12700" cmpd="sng" cap="flat">
            <a:solidFill>
              <a:srgbClr val="FDBA74">
                <a:alpha val="5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8191500" y="1143000"/>
            <a:ext cx="342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C2410C"/>
                </a:solidFill>
                <a:latin typeface="Noto Sans SC"/>
                <a:ea typeface="Noto Sans SC"/>
                <a:cs typeface="Noto Sans SC"/>
                <a:sym typeface="Noto Sans SC"/>
              </a:rPr>
              <a:t>安全风险与注意事项</a:t>
            </a:r>
            <a:endParaRPr lang="en-US" sz="1100"/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8191500" y="1714500"/>
            <a:ext cx="203200" cy="203200"/>
          </a:xfrm>
          <a:prstGeom prst="rect">
            <a:avLst/>
          </a:prstGeom>
        </p:spPr>
      </p:pic>
      <p:sp>
        <p:nvSpPr>
          <p:cNvPr name="AutoShape 30" id="30"/>
          <p:cNvSpPr/>
          <p:nvPr/>
        </p:nvSpPr>
        <p:spPr>
          <a:xfrm rot="0" flipH="false" flipV="false">
            <a:off x="8445500" y="1663700"/>
            <a:ext cx="317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提示注入风险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8445500" y="1968500"/>
            <a:ext cx="317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警惕恶意诱导执行非预期操作，需严格过滤输入。</a:t>
            </a:r>
            <a:endParaRPr lang="en-US" sz="1100"/>
          </a:p>
        </p:txBody>
      </p:sp>
      <p:pic>
        <p:nvPicPr>
          <p:cNvPr name="Picture 32" id="32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8191500" y="2540000"/>
            <a:ext cx="203200" cy="203200"/>
          </a:xfrm>
          <a:prstGeom prst="rect">
            <a:avLst/>
          </a:prstGeom>
        </p:spPr>
      </p:pic>
      <p:sp>
        <p:nvSpPr>
          <p:cNvPr name="AutoShape 33" id="33"/>
          <p:cNvSpPr/>
          <p:nvPr/>
        </p:nvSpPr>
        <p:spPr>
          <a:xfrm rot="0" flipH="false" flipV="false">
            <a:off x="8445500" y="2489200"/>
            <a:ext cx="317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网络暴露风险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8445500" y="2794000"/>
            <a:ext cx="317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避免实例直连公网，建议配置防火墙限制访问源。</a:t>
            </a:r>
            <a:endParaRPr lang="en-US" sz="1100"/>
          </a:p>
        </p:txBody>
      </p:sp>
      <p:pic>
        <p:nvPicPr>
          <p:cNvPr name="Picture 35" id="35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8191500" y="3365500"/>
            <a:ext cx="203200" cy="203200"/>
          </a:xfrm>
          <a:prstGeom prst="rect">
            <a:avLst/>
          </a:prstGeom>
        </p:spPr>
      </p:pic>
      <p:sp>
        <p:nvSpPr>
          <p:cNvPr name="AutoShape 36" id="36"/>
          <p:cNvSpPr/>
          <p:nvPr/>
        </p:nvSpPr>
        <p:spPr>
          <a:xfrm rot="0" flipH="false" flipV="false">
            <a:off x="8445500" y="3314700"/>
            <a:ext cx="317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权限过高风险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8445500" y="3619500"/>
            <a:ext cx="317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部署时避免使用管理员权限，仅开放必要目录访问。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8001000" y="4318000"/>
            <a:ext cx="3810000" cy="1905000"/>
          </a:xfrm>
          <a:prstGeom prst="roundRect">
            <a:avLst>
              <a:gd name="adj" fmla="val 6666"/>
            </a:avLst>
          </a:prstGeom>
          <a:solidFill>
            <a:srgbClr val="ECFDF5">
              <a:alpha val="100000"/>
            </a:srgbClr>
          </a:solidFill>
          <a:ln w="12700" cmpd="sng" cap="flat">
            <a:solidFill>
              <a:srgbClr val="6EE7B7">
                <a:alpha val="5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8191500" y="4445000"/>
            <a:ext cx="342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59669"/>
                </a:solidFill>
                <a:latin typeface="Noto Sans SC"/>
                <a:ea typeface="Noto Sans SC"/>
                <a:cs typeface="Noto Sans SC"/>
                <a:sym typeface="Noto Sans SC"/>
              </a:rPr>
              <a:t>安全最佳实践</a:t>
            </a:r>
            <a:endParaRPr lang="en-US" sz="1100"/>
          </a:p>
        </p:txBody>
      </p:sp>
      <p:pic>
        <p:nvPicPr>
          <p:cNvPr name="Picture 40" id="40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 flipH="false" flipV="false">
            <a:off x="8191500" y="4953000"/>
            <a:ext cx="203200" cy="203200"/>
          </a:xfrm>
          <a:prstGeom prst="rect">
            <a:avLst/>
          </a:prstGeom>
        </p:spPr>
      </p:pic>
      <p:sp>
        <p:nvSpPr>
          <p:cNvPr name="AutoShape 41" id="41"/>
          <p:cNvSpPr/>
          <p:nvPr/>
        </p:nvSpPr>
        <p:spPr>
          <a:xfrm rot="0" flipH="false" flipV="false">
            <a:off x="8445500" y="4914900"/>
            <a:ext cx="3175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遵循最小权限原则，按需分配资源访问权限。</a:t>
            </a:r>
            <a:endParaRPr lang="en-US" sz="1100"/>
          </a:p>
        </p:txBody>
      </p:sp>
      <p:pic>
        <p:nvPicPr>
          <p:cNvPr name="Picture 42" id="42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 flipH="false" flipV="false">
            <a:off x="8191500" y="5334000"/>
            <a:ext cx="203200" cy="203200"/>
          </a:xfrm>
          <a:prstGeom prst="rect">
            <a:avLst/>
          </a:prstGeom>
        </p:spPr>
      </p:pic>
      <p:sp>
        <p:nvSpPr>
          <p:cNvPr name="AutoShape 43" id="43"/>
          <p:cNvSpPr/>
          <p:nvPr/>
        </p:nvSpPr>
        <p:spPr>
          <a:xfrm rot="0" flipH="false" flipV="false">
            <a:off x="8445500" y="5295900"/>
            <a:ext cx="3175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定期更新OpenCLAW版本与依赖组件，修复漏洞。</a:t>
            </a:r>
            <a:endParaRPr lang="en-US" sz="1100"/>
          </a:p>
        </p:txBody>
      </p:sp>
      <p:pic>
        <p:nvPicPr>
          <p:cNvPr name="Picture 44" id="44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 flipH="false" flipV="false">
            <a:off x="8191500" y="5715000"/>
            <a:ext cx="203200" cy="203200"/>
          </a:xfrm>
          <a:prstGeom prst="rect">
            <a:avLst/>
          </a:prstGeom>
        </p:spPr>
      </p:pic>
      <p:sp>
        <p:nvSpPr>
          <p:cNvPr name="AutoShape 45" id="45"/>
          <p:cNvSpPr/>
          <p:nvPr/>
        </p:nvSpPr>
        <p:spPr>
          <a:xfrm rot="0" flipH="false" flipV="false">
            <a:off x="8445500" y="5676900"/>
            <a:ext cx="3175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优先使用官方源与经过审核的插件，减少风险。</a:t>
            </a:r>
            <a:endParaRPr lang="en-US" sz="1100"/>
          </a:p>
        </p:txBody>
      </p:sp>
      <p:sp>
        <p:nvSpPr>
          <p:cNvPr name="AutoShape 46" id="46"/>
          <p:cNvSpPr/>
          <p:nvPr/>
        </p:nvSpPr>
        <p:spPr>
          <a:xfrm rot="0" flipH="false" flipV="false">
            <a:off x="0" y="6604000"/>
            <a:ext cx="12192000" cy="254000"/>
          </a:xfrm>
          <a:prstGeom prst="roundRect">
            <a:avLst>
              <a:gd name="adj" fmla="val 0"/>
            </a:avLst>
          </a:prstGeom>
          <a:solidFill>
            <a:srgbClr val="DC262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5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508000" y="381000"/>
            <a:ext cx="406400" cy="406400"/>
          </a:xfrm>
          <a:prstGeom prst="rect">
            <a:avLst/>
          </a:prstGeom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304800"/>
            <a:ext cx="26797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7C3AED"/>
                </a:solidFill>
                <a:latin typeface="Noto Sans SC"/>
                <a:ea typeface="Noto Sans SC"/>
                <a:cs typeface="Noto Sans SC"/>
                <a:sym typeface="Noto Sans SC"/>
              </a:rPr>
              <a:t>OpenCLAW社区生态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1143000"/>
            <a:ext cx="5461000" cy="2921000"/>
          </a:xfrm>
          <a:prstGeom prst="roundRect">
            <a:avLst>
              <a:gd name="adj" fmla="val 4347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7C3AED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11200" y="1346200"/>
            <a:ext cx="50546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生态系统概览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11200" y="1701800"/>
            <a:ext cx="50546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OpenCLAW拥有活跃的开源社区，汇聚了全球开发者共同推动项目发展。社区生态包括代码贡献、插件开发、技能分享等多个维度。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11200" y="2286000"/>
            <a:ext cx="2476500" cy="698500"/>
          </a:xfrm>
          <a:prstGeom prst="roundRect">
            <a:avLst>
              <a:gd name="adj" fmla="val 9090"/>
            </a:avLst>
          </a:prstGeom>
          <a:solidFill>
            <a:srgbClr val="F9FAF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11200" y="2336800"/>
            <a:ext cx="2476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7C3AED"/>
                </a:solidFill>
                <a:latin typeface="Noto Sans SC"/>
                <a:ea typeface="Noto Sans SC"/>
                <a:cs typeface="Noto Sans SC"/>
                <a:sym typeface="Noto Sans SC"/>
              </a:rPr>
              <a:t>280K+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11200" y="2667000"/>
            <a:ext cx="24765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GitHub Star 数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314700" y="2286000"/>
            <a:ext cx="2476500" cy="698500"/>
          </a:xfrm>
          <a:prstGeom prst="roundRect">
            <a:avLst>
              <a:gd name="adj" fmla="val 9090"/>
            </a:avLst>
          </a:prstGeom>
          <a:solidFill>
            <a:srgbClr val="F9FAF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314700" y="2336800"/>
            <a:ext cx="2476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7C3AED"/>
                </a:solidFill>
                <a:latin typeface="Noto Sans SC"/>
                <a:ea typeface="Noto Sans SC"/>
                <a:cs typeface="Noto Sans SC"/>
                <a:sym typeface="Noto Sans SC"/>
              </a:rPr>
              <a:t>42K+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314700" y="2667000"/>
            <a:ext cx="24765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Forks 数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11200" y="3111500"/>
            <a:ext cx="2476500" cy="698500"/>
          </a:xfrm>
          <a:prstGeom prst="roundRect">
            <a:avLst>
              <a:gd name="adj" fmla="val 9090"/>
            </a:avLst>
          </a:prstGeom>
          <a:solidFill>
            <a:srgbClr val="F9FAF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11200" y="3162300"/>
            <a:ext cx="2476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7C3AED"/>
                </a:solidFill>
                <a:latin typeface="Noto Sans SC"/>
                <a:ea typeface="Noto Sans SC"/>
                <a:cs typeface="Noto Sans SC"/>
                <a:sym typeface="Noto Sans SC"/>
              </a:rPr>
              <a:t>5.4K+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11200" y="3492500"/>
            <a:ext cx="24765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技能插件数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3314700" y="3111500"/>
            <a:ext cx="2476500" cy="698500"/>
          </a:xfrm>
          <a:prstGeom prst="roundRect">
            <a:avLst>
              <a:gd name="adj" fmla="val 9090"/>
            </a:avLst>
          </a:prstGeom>
          <a:solidFill>
            <a:srgbClr val="F9FAF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3314700" y="3162300"/>
            <a:ext cx="2476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7C3AED"/>
                </a:solidFill>
                <a:latin typeface="Noto Sans SC"/>
                <a:ea typeface="Noto Sans SC"/>
                <a:cs typeface="Noto Sans SC"/>
                <a:sym typeface="Noto Sans SC"/>
              </a:rPr>
              <a:t>2+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3314700" y="3492500"/>
            <a:ext cx="24765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万行代码</a:t>
            </a:r>
            <a:endParaRPr lang="en-US" sz="1100"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968500" y="3937000"/>
            <a:ext cx="203200" cy="2032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2222500" y="3886200"/>
            <a:ext cx="190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500+ 贡献者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223000" y="1143000"/>
            <a:ext cx="5461000" cy="2921000"/>
          </a:xfrm>
          <a:prstGeom prst="roundRect">
            <a:avLst>
              <a:gd name="adj" fmla="val 4347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7C3AED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426200" y="1346200"/>
            <a:ext cx="50546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社区平台与资源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426200" y="1778000"/>
            <a:ext cx="5054600" cy="508000"/>
          </a:xfrm>
          <a:prstGeom prst="roundRect">
            <a:avLst>
              <a:gd name="adj" fmla="val 12500"/>
            </a:avLst>
          </a:prstGeom>
          <a:solidFill>
            <a:srgbClr val="F9FAF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553200" y="1879600"/>
            <a:ext cx="304800" cy="3048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6934200" y="1803400"/>
            <a:ext cx="4445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GitHub 仓库</a:t>
            </a: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主项目仓库，包含源代码、文档和问题跟踪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426200" y="2387600"/>
            <a:ext cx="5054600" cy="508000"/>
          </a:xfrm>
          <a:prstGeom prst="roundRect">
            <a:avLst>
              <a:gd name="adj" fmla="val 12500"/>
            </a:avLst>
          </a:prstGeom>
          <a:solidFill>
            <a:srgbClr val="F9FAF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553200" y="2489200"/>
            <a:ext cx="304800" cy="304800"/>
          </a:xfrm>
          <a:prstGeom prst="rect">
            <a:avLst/>
          </a:prstGeom>
        </p:spPr>
      </p:pic>
      <p:sp>
        <p:nvSpPr>
          <p:cNvPr name="AutoShape 28" id="28"/>
          <p:cNvSpPr/>
          <p:nvPr/>
        </p:nvSpPr>
        <p:spPr>
          <a:xfrm rot="0" flipH="false" flipV="false">
            <a:off x="6934200" y="2413000"/>
            <a:ext cx="4445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ClawHub 技能商店</a:t>
            </a: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官方技能插件市场，提供丰富的功能扩展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6426200" y="2997200"/>
            <a:ext cx="5054600" cy="508000"/>
          </a:xfrm>
          <a:prstGeom prst="roundRect">
            <a:avLst>
              <a:gd name="adj" fmla="val 12500"/>
            </a:avLst>
          </a:prstGeom>
          <a:solidFill>
            <a:srgbClr val="F9FAF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553200" y="3098800"/>
            <a:ext cx="304800" cy="304800"/>
          </a:xfrm>
          <a:prstGeom prst="rect">
            <a:avLst/>
          </a:prstGeom>
        </p:spPr>
      </p:pic>
      <p:sp>
        <p:nvSpPr>
          <p:cNvPr name="AutoShape 31" id="31"/>
          <p:cNvSpPr/>
          <p:nvPr/>
        </p:nvSpPr>
        <p:spPr>
          <a:xfrm rot="0" flipH="false" flipV="false">
            <a:off x="6934200" y="3022600"/>
            <a:ext cx="4445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Discord 社区</a:t>
            </a: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开发者交流、技术支持和经验分享平台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6426200" y="3606800"/>
            <a:ext cx="5054600" cy="508000"/>
          </a:xfrm>
          <a:prstGeom prst="roundRect">
            <a:avLst>
              <a:gd name="adj" fmla="val 12500"/>
            </a:avLst>
          </a:prstGeom>
          <a:solidFill>
            <a:srgbClr val="F9FAF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3" id="33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6553200" y="3708400"/>
            <a:ext cx="304800" cy="304800"/>
          </a:xfrm>
          <a:prstGeom prst="rect">
            <a:avLst/>
          </a:prstGeom>
        </p:spPr>
      </p:pic>
      <p:sp>
        <p:nvSpPr>
          <p:cNvPr name="AutoShape 34" id="34"/>
          <p:cNvSpPr/>
          <p:nvPr/>
        </p:nvSpPr>
        <p:spPr>
          <a:xfrm rot="0" flipH="false" flipV="false">
            <a:off x="6934200" y="3632200"/>
            <a:ext cx="4445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官方文档</a:t>
            </a: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详尽的安装、配置和开发指南，持续更新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508000" y="4254500"/>
            <a:ext cx="11176000" cy="1841500"/>
          </a:xfrm>
          <a:prstGeom prst="roundRect">
            <a:avLst>
              <a:gd name="adj" fmla="val 689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7C3AED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711200" y="4445000"/>
            <a:ext cx="107696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核心生态组件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711200" y="4889500"/>
            <a:ext cx="1651000" cy="406400"/>
          </a:xfrm>
          <a:prstGeom prst="roundRect">
            <a:avLst>
              <a:gd name="adj" fmla="val 15625"/>
            </a:avLst>
          </a:prstGeom>
          <a:solidFill>
            <a:srgbClr val="EDE9F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711200" y="4889500"/>
            <a:ext cx="1651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D28D9"/>
                </a:solidFill>
                <a:latin typeface="Noto Sans SC"/>
                <a:ea typeface="Noto Sans SC"/>
                <a:cs typeface="Noto Sans SC"/>
                <a:sym typeface="Noto Sans SC"/>
              </a:rPr>
              <a:t>Gateway 网关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2489200" y="4889500"/>
            <a:ext cx="1651000" cy="406400"/>
          </a:xfrm>
          <a:prstGeom prst="roundRect">
            <a:avLst>
              <a:gd name="adj" fmla="val 15625"/>
            </a:avLst>
          </a:prstGeom>
          <a:solidFill>
            <a:srgbClr val="EDE9F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2489200" y="4889500"/>
            <a:ext cx="1651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D28D9"/>
                </a:solidFill>
                <a:latin typeface="Noto Sans SC"/>
                <a:ea typeface="Noto Sans SC"/>
                <a:cs typeface="Noto Sans SC"/>
                <a:sym typeface="Noto Sans SC"/>
              </a:rPr>
              <a:t>Agent 智能体</a:t>
            </a:r>
            <a:endParaRPr lang="en-US" sz="1100"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4267200" y="4889500"/>
            <a:ext cx="1651000" cy="406400"/>
          </a:xfrm>
          <a:prstGeom prst="roundRect">
            <a:avLst>
              <a:gd name="adj" fmla="val 15625"/>
            </a:avLst>
          </a:prstGeom>
          <a:solidFill>
            <a:srgbClr val="EDE9F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2" id="42"/>
          <p:cNvSpPr/>
          <p:nvPr/>
        </p:nvSpPr>
        <p:spPr>
          <a:xfrm rot="0" flipH="false" flipV="false">
            <a:off x="4267200" y="4889500"/>
            <a:ext cx="1651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D28D9"/>
                </a:solidFill>
                <a:latin typeface="Noto Sans SC"/>
                <a:ea typeface="Noto Sans SC"/>
                <a:cs typeface="Noto Sans SC"/>
                <a:sym typeface="Noto Sans SC"/>
              </a:rPr>
              <a:t>Skills 技能</a:t>
            </a:r>
            <a:endParaRPr lang="en-US" sz="1100"/>
          </a:p>
        </p:txBody>
      </p:sp>
      <p:sp>
        <p:nvSpPr>
          <p:cNvPr name="AutoShape 43" id="43"/>
          <p:cNvSpPr/>
          <p:nvPr/>
        </p:nvSpPr>
        <p:spPr>
          <a:xfrm rot="0" flipH="false" flipV="false">
            <a:off x="6045200" y="4889500"/>
            <a:ext cx="1651000" cy="406400"/>
          </a:xfrm>
          <a:prstGeom prst="roundRect">
            <a:avLst>
              <a:gd name="adj" fmla="val 15625"/>
            </a:avLst>
          </a:prstGeom>
          <a:solidFill>
            <a:srgbClr val="EDE9F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4" id="44"/>
          <p:cNvSpPr/>
          <p:nvPr/>
        </p:nvSpPr>
        <p:spPr>
          <a:xfrm rot="0" flipH="false" flipV="false">
            <a:off x="6045200" y="4889500"/>
            <a:ext cx="1651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D28D9"/>
                </a:solidFill>
                <a:latin typeface="Noto Sans SC"/>
                <a:ea typeface="Noto Sans SC"/>
                <a:cs typeface="Noto Sans SC"/>
                <a:sym typeface="Noto Sans SC"/>
              </a:rPr>
              <a:t>Memory 记忆</a:t>
            </a:r>
            <a:endParaRPr lang="en-US" sz="1100"/>
          </a:p>
        </p:txBody>
      </p:sp>
      <p:sp>
        <p:nvSpPr>
          <p:cNvPr name="AutoShape 45" id="45"/>
          <p:cNvSpPr/>
          <p:nvPr/>
        </p:nvSpPr>
        <p:spPr>
          <a:xfrm rot="0" flipH="false" flipV="false">
            <a:off x="7823200" y="4889500"/>
            <a:ext cx="1651000" cy="406400"/>
          </a:xfrm>
          <a:prstGeom prst="roundRect">
            <a:avLst>
              <a:gd name="adj" fmla="val 15625"/>
            </a:avLst>
          </a:prstGeom>
          <a:solidFill>
            <a:srgbClr val="EDE9F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6" id="46"/>
          <p:cNvSpPr/>
          <p:nvPr/>
        </p:nvSpPr>
        <p:spPr>
          <a:xfrm rot="0" flipH="false" flipV="false">
            <a:off x="7823200" y="4889500"/>
            <a:ext cx="1651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D28D9"/>
                </a:solidFill>
                <a:latin typeface="Noto Sans SC"/>
                <a:ea typeface="Noto Sans SC"/>
                <a:cs typeface="Noto Sans SC"/>
                <a:sym typeface="Noto Sans SC"/>
              </a:rPr>
              <a:t>Nodes 节点</a:t>
            </a:r>
            <a:endParaRPr lang="en-US" sz="1100"/>
          </a:p>
        </p:txBody>
      </p:sp>
      <p:sp>
        <p:nvSpPr>
          <p:cNvPr name="AutoShape 47" id="47"/>
          <p:cNvSpPr/>
          <p:nvPr/>
        </p:nvSpPr>
        <p:spPr>
          <a:xfrm rot="0" flipH="false" flipV="false">
            <a:off x="9601200" y="4889500"/>
            <a:ext cx="1651000" cy="406400"/>
          </a:xfrm>
          <a:prstGeom prst="roundRect">
            <a:avLst>
              <a:gd name="adj" fmla="val 15625"/>
            </a:avLst>
          </a:prstGeom>
          <a:solidFill>
            <a:srgbClr val="EDE9F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8" id="48"/>
          <p:cNvSpPr/>
          <p:nvPr/>
        </p:nvSpPr>
        <p:spPr>
          <a:xfrm rot="0" flipH="false" flipV="false">
            <a:off x="9601200" y="4889500"/>
            <a:ext cx="1651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D28D9"/>
                </a:solidFill>
                <a:latin typeface="Noto Sans SC"/>
                <a:ea typeface="Noto Sans SC"/>
                <a:cs typeface="Noto Sans SC"/>
                <a:sym typeface="Noto Sans SC"/>
              </a:rPr>
              <a:t>Channels 渠道</a:t>
            </a:r>
            <a:endParaRPr lang="en-US" sz="1100"/>
          </a:p>
        </p:txBody>
      </p:sp>
      <p:sp>
        <p:nvSpPr>
          <p:cNvPr name="AutoShape 49" id="49"/>
          <p:cNvSpPr/>
          <p:nvPr/>
        </p:nvSpPr>
        <p:spPr>
          <a:xfrm rot="0" flipH="false" flipV="false">
            <a:off x="711200" y="5461000"/>
            <a:ext cx="107696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这些核心组件共同构成了OpenCLAW强大的底层架构，支持灵活的扩展与定制，为开发者提供了构建复杂应用的基础能力。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08000" y="254000"/>
            <a:ext cx="1117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B45309"/>
                </a:solidFill>
                <a:latin typeface="Noto Sans SC"/>
                <a:ea typeface="Noto Sans SC"/>
                <a:cs typeface="Noto Sans SC"/>
                <a:sym typeface="Noto Sans SC"/>
              </a:rPr>
              <a:t>OpenCLAW优劣势分析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08000" y="889000"/>
            <a:ext cx="533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👍 优势分析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1397000"/>
            <a:ext cx="2540000" cy="1270000"/>
          </a:xfrm>
          <a:prstGeom prst="roundRect">
            <a:avLst>
              <a:gd name="adj" fmla="val 10000"/>
            </a:avLst>
          </a:prstGeom>
          <a:solidFill>
            <a:srgbClr val="FEF3C7">
              <a:alpha val="60000"/>
            </a:srgbClr>
          </a:solidFill>
          <a:ln w="12700" cmpd="sng" cap="flat">
            <a:solidFill>
              <a:srgbClr val="FCD34D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635000" y="1524000"/>
            <a:ext cx="254000" cy="2540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952500" y="1473200"/>
            <a:ext cx="1968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B45309"/>
                </a:solidFill>
                <a:latin typeface="Noto Sans SC"/>
                <a:ea typeface="Noto Sans SC"/>
                <a:cs typeface="Noto Sans SC"/>
                <a:sym typeface="Noto Sans SC"/>
              </a:rPr>
              <a:t>数据隐私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35000" y="1841500"/>
            <a:ext cx="228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92400E"/>
                </a:solidFill>
                <a:latin typeface="Noto Sans SC"/>
                <a:ea typeface="Noto Sans SC"/>
                <a:cs typeface="Noto Sans SC"/>
                <a:sym typeface="Noto Sans SC"/>
              </a:rPr>
              <a:t>采用本地优先架构，数据全存储在用户设备上，无需上传云端，保障隐私。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175000" y="1397000"/>
            <a:ext cx="2540000" cy="1270000"/>
          </a:xfrm>
          <a:prstGeom prst="roundRect">
            <a:avLst>
              <a:gd name="adj" fmla="val 10000"/>
            </a:avLst>
          </a:prstGeom>
          <a:solidFill>
            <a:srgbClr val="FEF3C7">
              <a:alpha val="60000"/>
            </a:srgbClr>
          </a:solidFill>
          <a:ln w="12700" cmpd="sng" cap="flat">
            <a:solidFill>
              <a:srgbClr val="FCD34D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3302000" y="1524000"/>
            <a:ext cx="254000" cy="2540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3619500" y="1473200"/>
            <a:ext cx="1968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B45309"/>
                </a:solidFill>
                <a:latin typeface="Noto Sans SC"/>
                <a:ea typeface="Noto Sans SC"/>
                <a:cs typeface="Noto Sans SC"/>
                <a:sym typeface="Noto Sans SC"/>
              </a:rPr>
              <a:t>高可扩展性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302000" y="1841500"/>
            <a:ext cx="228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92400E"/>
                </a:solidFill>
                <a:latin typeface="Noto Sans SC"/>
                <a:ea typeface="Noto Sans SC"/>
                <a:cs typeface="Noto Sans SC"/>
                <a:sym typeface="Noto Sans SC"/>
              </a:rPr>
              <a:t>支持丰富的插件和技能扩展，用户可根据需要自定义功能，实现个性化定制。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08000" y="2794000"/>
            <a:ext cx="2540000" cy="1270000"/>
          </a:xfrm>
          <a:prstGeom prst="roundRect">
            <a:avLst>
              <a:gd name="adj" fmla="val 10000"/>
            </a:avLst>
          </a:prstGeom>
          <a:solidFill>
            <a:srgbClr val="FEF3C7">
              <a:alpha val="60000"/>
            </a:srgbClr>
          </a:solidFill>
          <a:ln w="12700" cmpd="sng" cap="flat">
            <a:solidFill>
              <a:srgbClr val="FCD34D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35000" y="2921000"/>
            <a:ext cx="254000" cy="2540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952500" y="2870200"/>
            <a:ext cx="1968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B45309"/>
                </a:solidFill>
                <a:latin typeface="Noto Sans SC"/>
                <a:ea typeface="Noto Sans SC"/>
                <a:cs typeface="Noto Sans SC"/>
                <a:sym typeface="Noto Sans SC"/>
              </a:rPr>
              <a:t>开源开放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35000" y="3238500"/>
            <a:ext cx="228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92400E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代码完全开源，允许自由定制和二次开发，降低使用成本，鼓励社区共建。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3175000" y="2794000"/>
            <a:ext cx="2540000" cy="1270000"/>
          </a:xfrm>
          <a:prstGeom prst="roundRect">
            <a:avLst>
              <a:gd name="adj" fmla="val 10000"/>
            </a:avLst>
          </a:prstGeom>
          <a:solidFill>
            <a:srgbClr val="FEF3C7">
              <a:alpha val="60000"/>
            </a:srgbClr>
          </a:solidFill>
          <a:ln w="12700" cmpd="sng" cap="flat">
            <a:solidFill>
              <a:srgbClr val="FCD34D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3302000" y="2921000"/>
            <a:ext cx="254000" cy="2540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3619500" y="2870200"/>
            <a:ext cx="1968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B45309"/>
                </a:solidFill>
                <a:latin typeface="Noto Sans SC"/>
                <a:ea typeface="Noto Sans SC"/>
                <a:cs typeface="Noto Sans SC"/>
                <a:sym typeface="Noto Sans SC"/>
              </a:rPr>
              <a:t>执行能力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3302000" y="3238500"/>
            <a:ext cx="228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92400E"/>
                </a:solidFill>
                <a:latin typeface="Noto Sans SC"/>
                <a:ea typeface="Noto Sans SC"/>
                <a:cs typeface="Noto Sans SC"/>
                <a:sym typeface="Noto Sans SC"/>
              </a:rPr>
              <a:t>直接调用系统接口执行任务，不仅生成建议，真正实现从“对话”到“执行”。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508000" y="4191000"/>
            <a:ext cx="2540000" cy="1270000"/>
          </a:xfrm>
          <a:prstGeom prst="roundRect">
            <a:avLst>
              <a:gd name="adj" fmla="val 10000"/>
            </a:avLst>
          </a:prstGeom>
          <a:solidFill>
            <a:srgbClr val="FEF3C7">
              <a:alpha val="60000"/>
            </a:srgbClr>
          </a:solidFill>
          <a:ln w="12700" cmpd="sng" cap="flat">
            <a:solidFill>
              <a:srgbClr val="FCD34D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35000" y="4318000"/>
            <a:ext cx="254000" cy="2540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952500" y="4267200"/>
            <a:ext cx="1968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B45309"/>
                </a:solidFill>
                <a:latin typeface="Noto Sans SC"/>
                <a:ea typeface="Noto Sans SC"/>
                <a:cs typeface="Noto Sans SC"/>
                <a:sym typeface="Noto Sans SC"/>
              </a:rPr>
              <a:t>持续运行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35000" y="4635500"/>
            <a:ext cx="228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92400E"/>
                </a:solidFill>
                <a:latin typeface="Noto Sans SC"/>
                <a:ea typeface="Noto Sans SC"/>
                <a:cs typeface="Noto Sans SC"/>
                <a:sym typeface="Noto Sans SC"/>
              </a:rPr>
              <a:t>支持7x24小时不间断运行，可设置定时任务和自动执行，大幅提高工作效率。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3175000" y="4191000"/>
            <a:ext cx="2540000" cy="1270000"/>
          </a:xfrm>
          <a:prstGeom prst="roundRect">
            <a:avLst>
              <a:gd name="adj" fmla="val 10000"/>
            </a:avLst>
          </a:prstGeom>
          <a:solidFill>
            <a:srgbClr val="FEF3C7">
              <a:alpha val="60000"/>
            </a:srgbClr>
          </a:solidFill>
          <a:ln w="12700" cmpd="sng" cap="flat">
            <a:solidFill>
              <a:srgbClr val="FCD34D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3302000" y="4318000"/>
            <a:ext cx="254000" cy="2540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3619500" y="4267200"/>
            <a:ext cx="1968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B45309"/>
                </a:solidFill>
                <a:latin typeface="Noto Sans SC"/>
                <a:ea typeface="Noto Sans SC"/>
                <a:cs typeface="Noto Sans SC"/>
                <a:sym typeface="Noto Sans SC"/>
              </a:rPr>
              <a:t>多平台适配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3302000" y="4635500"/>
            <a:ext cx="228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92400E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支持多种聊天工具和操作系统，打破平台壁垒，实现跨端协作与统一管理。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350000" y="889000"/>
            <a:ext cx="533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E11D48"/>
                </a:solidFill>
                <a:latin typeface="Noto Sans SC"/>
                <a:ea typeface="Noto Sans SC"/>
                <a:cs typeface="Noto Sans SC"/>
                <a:sym typeface="Noto Sans SC"/>
              </a:rPr>
              <a:t>👎 劣势分析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6350000" y="1397000"/>
            <a:ext cx="2540000" cy="1270000"/>
          </a:xfrm>
          <a:prstGeom prst="roundRect">
            <a:avLst>
              <a:gd name="adj" fmla="val 10000"/>
            </a:avLst>
          </a:prstGeom>
          <a:solidFill>
            <a:srgbClr val="FFE4E6">
              <a:alpha val="60000"/>
            </a:srgbClr>
          </a:solidFill>
          <a:ln w="12700" cmpd="sng" cap="flat">
            <a:solidFill>
              <a:srgbClr val="FB7185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6477000" y="1524000"/>
            <a:ext cx="254000" cy="254000"/>
          </a:xfrm>
          <a:prstGeom prst="rect">
            <a:avLst/>
          </a:prstGeom>
        </p:spPr>
      </p:pic>
      <p:sp>
        <p:nvSpPr>
          <p:cNvPr name="AutoShape 31" id="31"/>
          <p:cNvSpPr/>
          <p:nvPr/>
        </p:nvSpPr>
        <p:spPr>
          <a:xfrm rot="0" flipH="false" flipV="false">
            <a:off x="6794500" y="1473200"/>
            <a:ext cx="1968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BE123C"/>
                </a:solidFill>
                <a:latin typeface="Noto Sans SC"/>
                <a:ea typeface="Noto Sans SC"/>
                <a:cs typeface="Noto Sans SC"/>
                <a:sym typeface="Noto Sans SC"/>
              </a:rPr>
              <a:t>技术门槛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6477000" y="1841500"/>
            <a:ext cx="228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9F1239"/>
                </a:solidFill>
                <a:latin typeface="Noto Sans SC"/>
                <a:ea typeface="Noto Sans SC"/>
                <a:cs typeface="Noto Sans SC"/>
                <a:sym typeface="Noto Sans SC"/>
              </a:rPr>
              <a:t>部署和配置需要一定的技术基础，对非技术背景的普通用户来说上手有难度。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9017000" y="1397000"/>
            <a:ext cx="2540000" cy="1270000"/>
          </a:xfrm>
          <a:prstGeom prst="roundRect">
            <a:avLst>
              <a:gd name="adj" fmla="val 10000"/>
            </a:avLst>
          </a:prstGeom>
          <a:solidFill>
            <a:srgbClr val="FFE4E6">
              <a:alpha val="60000"/>
            </a:srgbClr>
          </a:solidFill>
          <a:ln w="12700" cmpd="sng" cap="flat">
            <a:solidFill>
              <a:srgbClr val="FB7185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4" id="34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 flipH="false" flipV="false">
            <a:off x="9144000" y="1524000"/>
            <a:ext cx="254000" cy="254000"/>
          </a:xfrm>
          <a:prstGeom prst="rect">
            <a:avLst/>
          </a:prstGeom>
        </p:spPr>
      </p:pic>
      <p:sp>
        <p:nvSpPr>
          <p:cNvPr name="AutoShape 35" id="35"/>
          <p:cNvSpPr/>
          <p:nvPr/>
        </p:nvSpPr>
        <p:spPr>
          <a:xfrm rot="0" flipH="false" flipV="false">
            <a:off x="9461500" y="1473200"/>
            <a:ext cx="1968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BE123C"/>
                </a:solidFill>
                <a:latin typeface="Noto Sans SC"/>
                <a:ea typeface="Noto Sans SC"/>
                <a:cs typeface="Noto Sans SC"/>
                <a:sym typeface="Noto Sans SC"/>
              </a:rPr>
              <a:t>成本消耗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9144000" y="1841500"/>
            <a:ext cx="228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9F1239"/>
                </a:solidFill>
                <a:latin typeface="Noto Sans SC"/>
                <a:ea typeface="Noto Sans SC"/>
                <a:cs typeface="Noto Sans SC"/>
                <a:sym typeface="Noto Sans SC"/>
              </a:rPr>
              <a:t>需要支付大模型API调用费用，复杂或高频任务的持续运行可能产生较高成本。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6350000" y="2794000"/>
            <a:ext cx="2540000" cy="1270000"/>
          </a:xfrm>
          <a:prstGeom prst="roundRect">
            <a:avLst>
              <a:gd name="adj" fmla="val 10000"/>
            </a:avLst>
          </a:prstGeom>
          <a:solidFill>
            <a:srgbClr val="FFE4E6">
              <a:alpha val="60000"/>
            </a:srgbClr>
          </a:solidFill>
          <a:ln w="12700" cmpd="sng" cap="flat">
            <a:solidFill>
              <a:srgbClr val="FB7185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8" id="38"/>
          <p:cNvPicPr>
            <a:picLocks noChangeAspect="true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0" flipH="false" flipV="false">
            <a:off x="6477000" y="2921000"/>
            <a:ext cx="254000" cy="254000"/>
          </a:xfrm>
          <a:prstGeom prst="rect">
            <a:avLst/>
          </a:prstGeom>
        </p:spPr>
      </p:pic>
      <p:sp>
        <p:nvSpPr>
          <p:cNvPr name="AutoShape 39" id="39"/>
          <p:cNvSpPr/>
          <p:nvPr/>
        </p:nvSpPr>
        <p:spPr>
          <a:xfrm rot="0" flipH="false" flipV="false">
            <a:off x="6794500" y="2870200"/>
            <a:ext cx="1968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BE123C"/>
                </a:solidFill>
                <a:latin typeface="Noto Sans SC"/>
                <a:ea typeface="Noto Sans SC"/>
                <a:cs typeface="Noto Sans SC"/>
                <a:sym typeface="Noto Sans SC"/>
              </a:rPr>
              <a:t>调试困难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6477000" y="3238500"/>
            <a:ext cx="228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9F1239"/>
                </a:solidFill>
                <a:latin typeface="Noto Sans SC"/>
                <a:ea typeface="Noto Sans SC"/>
                <a:cs typeface="Noto Sans SC"/>
                <a:sym typeface="Noto Sans SC"/>
              </a:rPr>
              <a:t>AI执行逻辑不透明，出错时定位问题根源和调试过程较为困难，需较高技术。</a:t>
            </a:r>
            <a:endParaRPr lang="en-US" sz="1100"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9017000" y="2794000"/>
            <a:ext cx="2540000" cy="1270000"/>
          </a:xfrm>
          <a:prstGeom prst="roundRect">
            <a:avLst>
              <a:gd name="adj" fmla="val 10000"/>
            </a:avLst>
          </a:prstGeom>
          <a:solidFill>
            <a:srgbClr val="FFE4E6">
              <a:alpha val="60000"/>
            </a:srgbClr>
          </a:solidFill>
          <a:ln w="12700" cmpd="sng" cap="flat">
            <a:solidFill>
              <a:srgbClr val="FB7185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2" id="42"/>
          <p:cNvPicPr>
            <a:picLocks noChangeAspect="true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rot="0" flipH="false" flipV="false">
            <a:off x="9144000" y="2921000"/>
            <a:ext cx="254000" cy="254000"/>
          </a:xfrm>
          <a:prstGeom prst="rect">
            <a:avLst/>
          </a:prstGeom>
        </p:spPr>
      </p:pic>
      <p:sp>
        <p:nvSpPr>
          <p:cNvPr name="AutoShape 43" id="43"/>
          <p:cNvSpPr/>
          <p:nvPr/>
        </p:nvSpPr>
        <p:spPr>
          <a:xfrm rot="0" flipH="false" flipV="false">
            <a:off x="9461500" y="2870200"/>
            <a:ext cx="1968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BE123C"/>
                </a:solidFill>
                <a:latin typeface="Noto Sans SC"/>
                <a:ea typeface="Noto Sans SC"/>
                <a:cs typeface="Noto Sans SC"/>
                <a:sym typeface="Noto Sans SC"/>
              </a:rPr>
              <a:t>安全风险</a:t>
            </a:r>
            <a:endParaRPr lang="en-US" sz="1100"/>
          </a:p>
        </p:txBody>
      </p:sp>
      <p:sp>
        <p:nvSpPr>
          <p:cNvPr name="AutoShape 44" id="44"/>
          <p:cNvSpPr/>
          <p:nvPr/>
        </p:nvSpPr>
        <p:spPr>
          <a:xfrm rot="0" flipH="false" flipV="false">
            <a:off x="9144000" y="3238500"/>
            <a:ext cx="228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9F1239"/>
                </a:solidFill>
                <a:latin typeface="Noto Sans SC"/>
                <a:ea typeface="Noto Sans SC"/>
                <a:cs typeface="Noto Sans SC"/>
                <a:sym typeface="Noto Sans SC"/>
              </a:rPr>
              <a:t>拥有较高的系统操作权限，若被恶意利用或出现误操作，可能造成严重后果。</a:t>
            </a:r>
            <a:endParaRPr lang="en-US" sz="1100"/>
          </a:p>
        </p:txBody>
      </p:sp>
      <p:sp>
        <p:nvSpPr>
          <p:cNvPr name="AutoShape 45" id="45"/>
          <p:cNvSpPr/>
          <p:nvPr/>
        </p:nvSpPr>
        <p:spPr>
          <a:xfrm rot="0" flipH="false" flipV="false">
            <a:off x="6350000" y="4191000"/>
            <a:ext cx="2540000" cy="1270000"/>
          </a:xfrm>
          <a:prstGeom prst="roundRect">
            <a:avLst>
              <a:gd name="adj" fmla="val 10000"/>
            </a:avLst>
          </a:prstGeom>
          <a:solidFill>
            <a:srgbClr val="FFE4E6">
              <a:alpha val="60000"/>
            </a:srgbClr>
          </a:solidFill>
          <a:ln w="12700" cmpd="sng" cap="flat">
            <a:solidFill>
              <a:srgbClr val="FB7185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6" id="46"/>
          <p:cNvPicPr>
            <a:picLocks noChangeAspect="true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0" flipH="false" flipV="false">
            <a:off x="6477000" y="4318000"/>
            <a:ext cx="254000" cy="254000"/>
          </a:xfrm>
          <a:prstGeom prst="rect">
            <a:avLst/>
          </a:prstGeom>
        </p:spPr>
      </p:pic>
      <p:sp>
        <p:nvSpPr>
          <p:cNvPr name="AutoShape 47" id="47"/>
          <p:cNvSpPr/>
          <p:nvPr/>
        </p:nvSpPr>
        <p:spPr>
          <a:xfrm rot="0" flipH="false" flipV="false">
            <a:off x="6794500" y="4267200"/>
            <a:ext cx="1968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BE123C"/>
                </a:solidFill>
                <a:latin typeface="Noto Sans SC"/>
                <a:ea typeface="Noto Sans SC"/>
                <a:cs typeface="Noto Sans SC"/>
                <a:sym typeface="Noto Sans SC"/>
              </a:rPr>
              <a:t>稳定性问题</a:t>
            </a:r>
            <a:endParaRPr lang="en-US" sz="1100"/>
          </a:p>
        </p:txBody>
      </p:sp>
      <p:sp>
        <p:nvSpPr>
          <p:cNvPr name="AutoShape 48" id="48"/>
          <p:cNvSpPr/>
          <p:nvPr/>
        </p:nvSpPr>
        <p:spPr>
          <a:xfrm rot="0" flipH="false" flipV="false">
            <a:off x="6477000" y="4635500"/>
            <a:ext cx="228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9F1239"/>
                </a:solidFill>
                <a:latin typeface="Noto Sans SC"/>
                <a:ea typeface="Noto Sans SC"/>
                <a:cs typeface="Noto Sans SC"/>
                <a:sym typeface="Noto Sans SC"/>
              </a:rPr>
              <a:t>处理复杂多步骤任务时，可能出现上下文丢失或步骤遗漏，单任务稳定性待提升。</a:t>
            </a:r>
            <a:endParaRPr lang="en-US" sz="1100"/>
          </a:p>
        </p:txBody>
      </p:sp>
      <p:sp>
        <p:nvSpPr>
          <p:cNvPr name="AutoShape 49" id="49"/>
          <p:cNvSpPr/>
          <p:nvPr/>
        </p:nvSpPr>
        <p:spPr>
          <a:xfrm rot="0" flipH="false" flipV="false">
            <a:off x="9017000" y="4191000"/>
            <a:ext cx="2540000" cy="1270000"/>
          </a:xfrm>
          <a:prstGeom prst="roundRect">
            <a:avLst>
              <a:gd name="adj" fmla="val 10000"/>
            </a:avLst>
          </a:prstGeom>
          <a:solidFill>
            <a:srgbClr val="FFE4E6">
              <a:alpha val="60000"/>
            </a:srgbClr>
          </a:solidFill>
          <a:ln w="12700" cmpd="sng" cap="flat">
            <a:solidFill>
              <a:srgbClr val="FB7185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0" id="50"/>
          <p:cNvPicPr>
            <a:picLocks noChangeAspect="true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 rot="0" flipH="false" flipV="false">
            <a:off x="9144000" y="4318000"/>
            <a:ext cx="254000" cy="254000"/>
          </a:xfrm>
          <a:prstGeom prst="rect">
            <a:avLst/>
          </a:prstGeom>
        </p:spPr>
      </p:pic>
      <p:sp>
        <p:nvSpPr>
          <p:cNvPr name="AutoShape 51" id="51"/>
          <p:cNvSpPr/>
          <p:nvPr/>
        </p:nvSpPr>
        <p:spPr>
          <a:xfrm rot="0" flipH="false" flipV="false">
            <a:off x="9461500" y="4267200"/>
            <a:ext cx="1968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BE123C"/>
                </a:solidFill>
                <a:latin typeface="Noto Sans SC"/>
                <a:ea typeface="Noto Sans SC"/>
                <a:cs typeface="Noto Sans SC"/>
                <a:sym typeface="Noto Sans SC"/>
              </a:rPr>
              <a:t>配置复杂</a:t>
            </a:r>
            <a:endParaRPr lang="en-US" sz="1100"/>
          </a:p>
        </p:txBody>
      </p:sp>
      <p:sp>
        <p:nvSpPr>
          <p:cNvPr name="AutoShape 52" id="52"/>
          <p:cNvSpPr/>
          <p:nvPr/>
        </p:nvSpPr>
        <p:spPr>
          <a:xfrm rot="0" flipH="false" flipV="false">
            <a:off x="9144000" y="4635500"/>
            <a:ext cx="228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9F1239"/>
                </a:solidFill>
                <a:latin typeface="Noto Sans SC"/>
                <a:ea typeface="Noto Sans SC"/>
                <a:cs typeface="Noto Sans SC"/>
                <a:sym typeface="Noto Sans SC"/>
              </a:rPr>
              <a:t>初始设置涉及多种API密钥、渠道接入等，流程繁琐，对新手不友好。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08000" y="254000"/>
            <a:ext cx="2235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总结与展望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08000" y="1016000"/>
            <a:ext cx="5334000" cy="4318000"/>
          </a:xfrm>
          <a:prstGeom prst="roundRect">
            <a:avLst>
              <a:gd name="adj" fmla="val 2941"/>
            </a:avLst>
          </a:prstGeom>
          <a:solidFill>
            <a:srgbClr val="1E293B">
              <a:alpha val="60000"/>
            </a:srgbClr>
          </a:solidFill>
          <a:ln w="12700" cmpd="sng" cap="flat">
            <a:solidFill>
              <a:srgbClr val="33415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2065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OpenCLAW 核心价值总结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482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OpenCLAW 代表了 AI 技术从被动问答向主动执行的转变。它不仅是对话式 AI，更是能够深度融合本地系统、执行实际操作的智能代理，重新定义了人机协作的边界。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762000" y="2794000"/>
            <a:ext cx="254000" cy="2540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143000" y="2768600"/>
            <a:ext cx="444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创新架构：</a:t>
            </a:r>
            <a:r>
              <a:rPr lang="en-US" b="false" i="false" strike="noStrike" u="none" sz="13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三层解耦设计，实现灵活的系统扩展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762000" y="3175000"/>
            <a:ext cx="254000" cy="2540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143000" y="3149600"/>
            <a:ext cx="444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数据隐私：</a:t>
            </a:r>
            <a:r>
              <a:rPr lang="en-US" b="false" i="false" strike="noStrike" u="none" sz="13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本地优先架构，确保数据完全掌控在用户手中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762000" y="3556000"/>
            <a:ext cx="254000" cy="2540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143000" y="3530600"/>
            <a:ext cx="444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执行能力：</a:t>
            </a:r>
            <a:r>
              <a:rPr lang="en-US" b="false" i="false" strike="noStrike" u="none" sz="13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突破传统 AI 局限，实现真正的自动化执行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762000" y="3937000"/>
            <a:ext cx="254000" cy="2540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143000" y="3911600"/>
            <a:ext cx="444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高可扩展：</a:t>
            </a:r>
            <a:r>
              <a:rPr lang="en-US" b="false" i="false" strike="noStrike" u="none" sz="13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插件化架构支持无限功能扩展和个性化定制</a:t>
            </a:r>
            <a:endParaRPr lang="en-US" sz="1100"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762000" y="4318000"/>
            <a:ext cx="254000" cy="2540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143000" y="4292600"/>
            <a:ext cx="444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社区驱动：</a:t>
            </a:r>
            <a:r>
              <a:rPr lang="en-US" b="false" i="false" strike="noStrike" u="none" sz="13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活跃的开源社区推动持续创新和生态繁荣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350000" y="1016000"/>
            <a:ext cx="5334000" cy="4318000"/>
          </a:xfrm>
          <a:prstGeom prst="roundRect">
            <a:avLst>
              <a:gd name="adj" fmla="val 2941"/>
            </a:avLst>
          </a:prstGeom>
          <a:solidFill>
            <a:srgbClr val="1E293B">
              <a:alpha val="60000"/>
            </a:srgbClr>
          </a:solidFill>
          <a:ln w="12700" cmpd="sng" cap="flat">
            <a:solidFill>
              <a:srgbClr val="33415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604000" y="12065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未来发展展望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604000" y="1714500"/>
            <a:ext cx="508000" cy="254000"/>
          </a:xfrm>
          <a:prstGeom prst="roundRect">
            <a:avLst>
              <a:gd name="adj" fmla="val 25000"/>
            </a:avLst>
          </a:prstGeom>
          <a:solidFill>
            <a:srgbClr val="38BDF8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2026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239000" y="1676400"/>
            <a:ext cx="419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功能完善：</a:t>
            </a:r>
            <a:r>
              <a:rPr lang="en-US" b="false" i="false" strike="noStrike" u="none" sz="13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优化交互能力，增强复杂任务执行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604000" y="2095500"/>
            <a:ext cx="508000" cy="254000"/>
          </a:xfrm>
          <a:prstGeom prst="roundRect">
            <a:avLst>
              <a:gd name="adj" fmla="val 25000"/>
            </a:avLst>
          </a:prstGeom>
          <a:solidFill>
            <a:srgbClr val="38BDF8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2027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239000" y="2057400"/>
            <a:ext cx="419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生态建设：</a:t>
            </a:r>
            <a:r>
              <a:rPr lang="en-US" b="false" i="false" strike="noStrike" u="none" sz="13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建立标准化认证体系，丰富行业解决方案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604000" y="2476500"/>
            <a:ext cx="508000" cy="254000"/>
          </a:xfrm>
          <a:prstGeom prst="roundRect">
            <a:avLst>
              <a:gd name="adj" fmla="val 25000"/>
            </a:avLst>
          </a:prstGeom>
          <a:solidFill>
            <a:srgbClr val="38BDF8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2028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239000" y="2438400"/>
            <a:ext cx="419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企业应用：</a:t>
            </a:r>
            <a:r>
              <a:rPr lang="en-US" b="false" i="false" strike="noStrike" u="none" sz="13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推出企业版，支持团队协作与权限管理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604000" y="2857500"/>
            <a:ext cx="508000" cy="254000"/>
          </a:xfrm>
          <a:prstGeom prst="roundRect">
            <a:avLst>
              <a:gd name="adj" fmla="val 25000"/>
            </a:avLst>
          </a:prstGeom>
          <a:solidFill>
            <a:srgbClr val="38BDF8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2029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239000" y="2819400"/>
            <a:ext cx="419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AI Agent：</a:t>
            </a:r>
            <a:r>
              <a:rPr lang="en-US" b="false" i="false" strike="noStrike" u="none" sz="13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探索多智能体协同，构建去中心化AI网络</a:t>
            </a:r>
            <a:endParaRPr lang="en-US" sz="1100"/>
          </a:p>
        </p:txBody>
      </p:sp>
      <p:cxnSp>
        <p:nvCxnSpPr>
          <p:cNvPr name="Connector 26" id="26"/>
          <p:cNvCxnSpPr/>
          <p:nvPr/>
        </p:nvCxnSpPr>
        <p:spPr>
          <a:xfrm rot="-9046" flipH="false" flipV="false">
            <a:off x="6604008" y="3295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94A3B8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7" id="27"/>
          <p:cNvSpPr/>
          <p:nvPr/>
        </p:nvSpPr>
        <p:spPr>
          <a:xfrm rot="0" flipH="false" flipV="false">
            <a:off x="6604000" y="34290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愿景与使命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604000" y="3873500"/>
            <a:ext cx="4826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OpenCLAW 致力于让每个人都能拥有自己的 AI 助手，实现真正的人机协同。我们相信，未来的 AI 不仅仅是一个回答问题的工具，而应该是一个能够理解用户意图、主动协作、执行操作的伙伴。OpenCLAW 正在重新定义 AI 助手的可能性，迈向更智能、更自主、更人性化的 AI 未来！</a:t>
            </a:r>
            <a:endParaRPr lang="en-US" sz="1100"/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